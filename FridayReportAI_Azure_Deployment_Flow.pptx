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3716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FridayReport.AI — Azure Deployment Flow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0" y="457200"/>
            <a:ext cx="121889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End-to-end pipeline from source code to production on Azure Container Apps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82880" y="777240"/>
            <a:ext cx="11823192" cy="1417320"/>
          </a:xfrm>
          <a:prstGeom prst="rect">
            <a:avLst>
              <a:gd name="adj" fmla="val 5161"/>
            </a:avLst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92608" y="850392"/>
            <a:ext cx="2263140" cy="201168"/>
          </a:xfrm>
          <a:prstGeom prst="rect">
            <a:avLst>
              <a:gd name="adj" fmla="val 18182"/>
            </a:avLst>
          </a:prstGeom>
          <a:solidFill>
            <a:srgbClr val="10B981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1: BUILD &amp; CONTAINERIZE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842516" y="1143000"/>
            <a:ext cx="1554480" cy="384048"/>
          </a:xfrm>
          <a:prstGeom prst="rect">
            <a:avLst>
              <a:gd name="adj" fmla="val 19048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Source Code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TypeScript + React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96996" y="1280160"/>
            <a:ext cx="182880" cy="109728"/>
          </a:xfrm>
          <a:prstGeom prst="rightArrow">
            <a:avLst/>
          </a:prstGeom>
          <a:solidFill>
            <a:srgbClr val="10B981"/>
          </a:solidFill>
          <a:ln/>
        </p:spPr>
      </p:sp>
      <p:sp>
        <p:nvSpPr>
          <p:cNvPr id="8" name="Text 6"/>
          <p:cNvSpPr/>
          <p:nvPr/>
        </p:nvSpPr>
        <p:spPr>
          <a:xfrm>
            <a:off x="3579876" y="1143000"/>
            <a:ext cx="1554480" cy="384048"/>
          </a:xfrm>
          <a:prstGeom prst="rect">
            <a:avLst>
              <a:gd name="adj" fmla="val 19048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npm run build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Vite + esbuild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134356" y="1280160"/>
            <a:ext cx="182880" cy="109728"/>
          </a:xfrm>
          <a:prstGeom prst="rightArrow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5317236" y="1143000"/>
            <a:ext cx="1554480" cy="384048"/>
          </a:xfrm>
          <a:prstGeom prst="rect">
            <a:avLst>
              <a:gd name="adj" fmla="val 19048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Build Artifacts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dist/index.cjs + public/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871716" y="1280160"/>
            <a:ext cx="182880" cy="109728"/>
          </a:xfrm>
          <a:prstGeom prst="rightArrow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7054596" y="1143000"/>
            <a:ext cx="1554480" cy="384048"/>
          </a:xfrm>
          <a:prstGeom prst="rect">
            <a:avLst>
              <a:gd name="adj" fmla="val 19048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Docker Build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Multi-stage Dockerfile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609076" y="1280160"/>
            <a:ext cx="182880" cy="109728"/>
          </a:xfrm>
          <a:prstGeom prst="rightArrow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8791956" y="1143000"/>
            <a:ext cx="1554480" cy="384048"/>
          </a:xfrm>
          <a:prstGeom prst="rect">
            <a:avLst>
              <a:gd name="adj" fmla="val 19048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Container Image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Node.js 20 + JRE 17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664208"/>
            <a:ext cx="2194560" cy="694944"/>
          </a:xfrm>
          <a:prstGeom prst="rect">
            <a:avLst>
              <a:gd name="adj" fmla="val 6579"/>
            </a:avLst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1664208"/>
            <a:ext cx="2194560" cy="3657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438912" y="1719072"/>
            <a:ext cx="2048256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Output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dist/index.cjs (server bundle)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dist/public/ (React SPA)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lib/ (MPXJ JARs for .mpp parsing)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743200" y="1664208"/>
            <a:ext cx="2194560" cy="694944"/>
          </a:xfrm>
          <a:prstGeom prst="rect">
            <a:avLst>
              <a:gd name="adj" fmla="val 6579"/>
            </a:avLst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43200" y="1664208"/>
            <a:ext cx="2194560" cy="3657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2816352" y="1719072"/>
            <a:ext cx="2048256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Dockerfile Highlights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Multi-stage: build → runtime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JRE 17 for MPP parser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~400-600 MB final image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82880" y="2331720"/>
            <a:ext cx="11823192" cy="731520"/>
          </a:xfrm>
          <a:prstGeom prst="rect">
            <a:avLst>
              <a:gd name="adj" fmla="val 10000"/>
            </a:avLst>
          </a:prstGeom>
          <a:solidFill>
            <a:srgbClr val="075DD1">
              <a:alpha val="6000"/>
            </a:srgbClr>
          </a:solidFill>
          <a:ln w="12700">
            <a:solidFill>
              <a:srgbClr val="075DD1">
                <a:alpha val="3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92608" y="2404872"/>
            <a:ext cx="2125980" cy="201168"/>
          </a:xfrm>
          <a:prstGeom prst="rect">
            <a:avLst>
              <a:gd name="adj" fmla="val 18182"/>
            </a:avLst>
          </a:prstGeom>
          <a:solidFill>
            <a:srgbClr val="075DD1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75DD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2: CONTAINER REGISTRY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035040" y="2194560"/>
            <a:ext cx="109728" cy="137160"/>
          </a:xfrm>
          <a:prstGeom prst="downArrow">
            <a:avLst/>
          </a:prstGeom>
          <a:solidFill>
            <a:srgbClr val="075DD1"/>
          </a:solidFill>
          <a:ln/>
        </p:spPr>
      </p:sp>
      <p:sp>
        <p:nvSpPr>
          <p:cNvPr id="24" name="Text 22"/>
          <p:cNvSpPr/>
          <p:nvPr/>
        </p:nvSpPr>
        <p:spPr>
          <a:xfrm>
            <a:off x="6181344" y="2189988"/>
            <a:ext cx="7315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075DD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push image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4114800" y="2606040"/>
            <a:ext cx="2743200" cy="384048"/>
          </a:xfrm>
          <a:prstGeom prst="rect">
            <a:avLst>
              <a:gd name="adj" fmla="val 19048"/>
            </a:avLst>
          </a:prstGeom>
          <a:solidFill>
            <a:srgbClr val="075DD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Azure Container Registry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docker push / az acr build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132320" y="2514600"/>
            <a:ext cx="2286000" cy="694944"/>
          </a:xfrm>
          <a:prstGeom prst="rect">
            <a:avLst>
              <a:gd name="adj" fmla="val 6579"/>
            </a:avLst>
          </a:prstGeom>
          <a:solidFill>
            <a:srgbClr val="FFFFFF"/>
          </a:solidFill>
          <a:ln w="12700">
            <a:solidFill>
              <a:srgbClr val="075DD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32320" y="2514600"/>
            <a:ext cx="2286000" cy="36576"/>
          </a:xfrm>
          <a:prstGeom prst="rect">
            <a:avLst/>
          </a:prstGeom>
          <a:solidFill>
            <a:srgbClr val="075DD1"/>
          </a:solidFill>
          <a:ln/>
        </p:spPr>
      </p:sp>
      <p:sp>
        <p:nvSpPr>
          <p:cNvPr id="28" name="Text 26"/>
          <p:cNvSpPr/>
          <p:nvPr/>
        </p:nvSpPr>
        <p:spPr>
          <a:xfrm>
            <a:off x="7205472" y="2569464"/>
            <a:ext cx="2139696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075DD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ACR Config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SKU: Standard or Premium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Auth: Managed Identity (AcrPull)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Alternative: az acr build (cloud)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82880" y="3200400"/>
            <a:ext cx="11823192" cy="1417320"/>
          </a:xfrm>
          <a:prstGeom prst="rect">
            <a:avLst>
              <a:gd name="adj" fmla="val 5161"/>
            </a:avLst>
          </a:prstGeom>
          <a:solidFill>
            <a:srgbClr val="17255A">
              <a:alpha val="6000"/>
            </a:srgbClr>
          </a:solidFill>
          <a:ln w="12700">
            <a:solidFill>
              <a:srgbClr val="17255A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2608" y="3273552"/>
            <a:ext cx="2263140" cy="201168"/>
          </a:xfrm>
          <a:prstGeom prst="rect">
            <a:avLst>
              <a:gd name="adj" fmla="val 18182"/>
            </a:avLst>
          </a:prstGeom>
          <a:solidFill>
            <a:srgbClr val="17255A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3: AZURE INFRASTRUCTURE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35040" y="3063240"/>
            <a:ext cx="109728" cy="137160"/>
          </a:xfrm>
          <a:prstGeom prst="downArrow">
            <a:avLst/>
          </a:prstGeom>
          <a:solidFill>
            <a:srgbClr val="17255A"/>
          </a:solidFill>
          <a:ln/>
        </p:spPr>
      </p:sp>
      <p:sp>
        <p:nvSpPr>
          <p:cNvPr id="32" name="Text 30"/>
          <p:cNvSpPr/>
          <p:nvPr/>
        </p:nvSpPr>
        <p:spPr>
          <a:xfrm>
            <a:off x="6181344" y="3058668"/>
            <a:ext cx="7315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provision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1293876" y="3566160"/>
            <a:ext cx="1463040" cy="384048"/>
          </a:xfrm>
          <a:prstGeom prst="rect">
            <a:avLst>
              <a:gd name="adj" fmla="val 19048"/>
            </a:avLst>
          </a:prstGeom>
          <a:solidFill>
            <a:srgbClr val="1725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Resource Group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fridayreport-rg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756916" y="3703320"/>
            <a:ext cx="164592" cy="109728"/>
          </a:xfrm>
          <a:prstGeom prst="rightArrow">
            <a:avLst/>
          </a:prstGeom>
          <a:solidFill>
            <a:srgbClr val="17255A"/>
          </a:solidFill>
          <a:ln/>
        </p:spPr>
      </p:sp>
      <p:sp>
        <p:nvSpPr>
          <p:cNvPr id="35" name="Text 33"/>
          <p:cNvSpPr/>
          <p:nvPr/>
        </p:nvSpPr>
        <p:spPr>
          <a:xfrm>
            <a:off x="2921508" y="3566160"/>
            <a:ext cx="1463040" cy="384048"/>
          </a:xfrm>
          <a:prstGeom prst="rect">
            <a:avLst>
              <a:gd name="adj" fmla="val 19048"/>
            </a:avLst>
          </a:prstGeom>
          <a:solidFill>
            <a:srgbClr val="075DD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PostgreSQL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Flexible Server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384548" y="3703320"/>
            <a:ext cx="164592" cy="109728"/>
          </a:xfrm>
          <a:prstGeom prst="rightArrow">
            <a:avLst/>
          </a:prstGeom>
          <a:solidFill>
            <a:srgbClr val="17255A"/>
          </a:solidFill>
          <a:ln/>
        </p:spPr>
      </p:sp>
      <p:sp>
        <p:nvSpPr>
          <p:cNvPr id="37" name="Text 35"/>
          <p:cNvSpPr/>
          <p:nvPr/>
        </p:nvSpPr>
        <p:spPr>
          <a:xfrm>
            <a:off x="4549140" y="3566160"/>
            <a:ext cx="1463040" cy="384048"/>
          </a:xfrm>
          <a:prstGeom prst="rect">
            <a:avLst>
              <a:gd name="adj" fmla="val 19048"/>
            </a:avLst>
          </a:prstGeom>
          <a:solidFill>
            <a:srgbClr val="0891B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Blob Storage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File Uploads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012180" y="3703320"/>
            <a:ext cx="164592" cy="109728"/>
          </a:xfrm>
          <a:prstGeom prst="rightArrow">
            <a:avLst/>
          </a:prstGeom>
          <a:solidFill>
            <a:srgbClr val="17255A"/>
          </a:solidFill>
          <a:ln/>
        </p:spPr>
      </p:sp>
      <p:sp>
        <p:nvSpPr>
          <p:cNvPr id="39" name="Text 37"/>
          <p:cNvSpPr/>
          <p:nvPr/>
        </p:nvSpPr>
        <p:spPr>
          <a:xfrm>
            <a:off x="6176772" y="3566160"/>
            <a:ext cx="1463040" cy="384048"/>
          </a:xfrm>
          <a:prstGeom prst="rect">
            <a:avLst>
              <a:gd name="adj" fmla="val 19048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Key Vault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Secrets Mgmt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639812" y="3703320"/>
            <a:ext cx="164592" cy="109728"/>
          </a:xfrm>
          <a:prstGeom prst="rightArrow">
            <a:avLst/>
          </a:prstGeom>
          <a:solidFill>
            <a:srgbClr val="17255A"/>
          </a:solidFill>
          <a:ln/>
        </p:spPr>
      </p:sp>
      <p:sp>
        <p:nvSpPr>
          <p:cNvPr id="41" name="Text 39"/>
          <p:cNvSpPr/>
          <p:nvPr/>
        </p:nvSpPr>
        <p:spPr>
          <a:xfrm>
            <a:off x="7804404" y="3566160"/>
            <a:ext cx="1463040" cy="384048"/>
          </a:xfrm>
          <a:prstGeom prst="rect">
            <a:avLst>
              <a:gd name="adj" fmla="val 19048"/>
            </a:avLst>
          </a:prstGeom>
          <a:solidFill>
            <a:srgbClr val="6B728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Log Analytics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Monitoring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9267444" y="3703320"/>
            <a:ext cx="164592" cy="109728"/>
          </a:xfrm>
          <a:prstGeom prst="rightArrow">
            <a:avLst/>
          </a:prstGeom>
          <a:solidFill>
            <a:srgbClr val="17255A"/>
          </a:solidFill>
          <a:ln/>
        </p:spPr>
      </p:sp>
      <p:sp>
        <p:nvSpPr>
          <p:cNvPr id="43" name="Text 41"/>
          <p:cNvSpPr/>
          <p:nvPr/>
        </p:nvSpPr>
        <p:spPr>
          <a:xfrm>
            <a:off x="9432036" y="3566160"/>
            <a:ext cx="1463040" cy="384048"/>
          </a:xfrm>
          <a:prstGeom prst="rect">
            <a:avLst>
              <a:gd name="adj" fmla="val 19048"/>
            </a:avLst>
          </a:prstGeom>
          <a:solidFill>
            <a:srgbClr val="1725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Container Env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Hosting Env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65760" y="4087368"/>
            <a:ext cx="2377440" cy="694944"/>
          </a:xfrm>
          <a:prstGeom prst="rect">
            <a:avLst>
              <a:gd name="adj" fmla="val 6579"/>
            </a:avLst>
          </a:prstGeom>
          <a:solidFill>
            <a:srgbClr val="FFFFFF"/>
          </a:solidFill>
          <a:ln w="12700">
            <a:solidFill>
              <a:srgbClr val="075DD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5760" y="4087368"/>
            <a:ext cx="2377440" cy="36576"/>
          </a:xfrm>
          <a:prstGeom prst="rect">
            <a:avLst/>
          </a:prstGeom>
          <a:solidFill>
            <a:srgbClr val="075DD1"/>
          </a:solidFill>
          <a:ln/>
        </p:spPr>
      </p:sp>
      <p:sp>
        <p:nvSpPr>
          <p:cNvPr id="46" name="Text 44"/>
          <p:cNvSpPr/>
          <p:nvPr/>
        </p:nvSpPr>
        <p:spPr>
          <a:xfrm>
            <a:off x="438912" y="4142232"/>
            <a:ext cx="2231136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075DD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 Config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Version 15+, SKU: Standard_D4ds_v4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Extensions: unaccent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HA: Zone-redundant (prod)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2926080" y="4087368"/>
            <a:ext cx="2560320" cy="841248"/>
          </a:xfrm>
          <a:prstGeom prst="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926080" y="4087368"/>
            <a:ext cx="2560320" cy="36576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9" name="Text 47"/>
          <p:cNvSpPr/>
          <p:nvPr/>
        </p:nvSpPr>
        <p:spPr>
          <a:xfrm>
            <a:off x="2999232" y="4142232"/>
            <a:ext cx="241401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Vault Secrets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DATABASE_URL, SESSION_SECRET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GOOGLE_CLIENT_ID / SECRET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MICROSOFT_CLIENT_ID / SECRET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RESEND_API_KEY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182880" y="4754880"/>
            <a:ext cx="11823192" cy="1417320"/>
          </a:xfrm>
          <a:prstGeom prst="rect">
            <a:avLst>
              <a:gd name="adj" fmla="val 5161"/>
            </a:avLst>
          </a:prstGeom>
          <a:solidFill>
            <a:srgbClr val="FF751F">
              <a:alpha val="6000"/>
            </a:srgbClr>
          </a:solidFill>
          <a:ln w="12700">
            <a:solidFill>
              <a:srgbClr val="FF751F">
                <a:alpha val="30000"/>
              </a:srgbClr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92608" y="4828032"/>
            <a:ext cx="2263140" cy="201168"/>
          </a:xfrm>
          <a:prstGeom prst="rect">
            <a:avLst>
              <a:gd name="adj" fmla="val 18182"/>
            </a:avLst>
          </a:prstGeom>
          <a:solidFill>
            <a:srgbClr val="FF751F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75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4: DEPLOY CONTAINER APP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6035040" y="4617720"/>
            <a:ext cx="109728" cy="137160"/>
          </a:xfrm>
          <a:prstGeom prst="downArrow">
            <a:avLst/>
          </a:prstGeom>
          <a:solidFill>
            <a:srgbClr val="FF751F"/>
          </a:solidFill>
          <a:ln/>
        </p:spPr>
      </p:sp>
      <p:sp>
        <p:nvSpPr>
          <p:cNvPr id="53" name="Text 51"/>
          <p:cNvSpPr/>
          <p:nvPr/>
        </p:nvSpPr>
        <p:spPr>
          <a:xfrm>
            <a:off x="6181344" y="4613148"/>
            <a:ext cx="7315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FF75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2436876" y="5120640"/>
            <a:ext cx="2194560" cy="384048"/>
          </a:xfrm>
          <a:prstGeom prst="rect">
            <a:avLst>
              <a:gd name="adj" fmla="val 19048"/>
            </a:avLst>
          </a:prstGeom>
          <a:solidFill>
            <a:srgbClr val="FF751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Create Container App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az containerapp create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4631436" y="5257800"/>
            <a:ext cx="365760" cy="109728"/>
          </a:xfrm>
          <a:prstGeom prst="rightArrow">
            <a:avLst/>
          </a:prstGeom>
          <a:solidFill>
            <a:srgbClr val="FF751F"/>
          </a:solidFill>
          <a:ln/>
        </p:spPr>
      </p:sp>
      <p:sp>
        <p:nvSpPr>
          <p:cNvPr id="56" name="Text 54"/>
          <p:cNvSpPr/>
          <p:nvPr/>
        </p:nvSpPr>
        <p:spPr>
          <a:xfrm>
            <a:off x="4997196" y="5120640"/>
            <a:ext cx="2194560" cy="384048"/>
          </a:xfrm>
          <a:prstGeom prst="rect">
            <a:avLst>
              <a:gd name="adj" fmla="val 19048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Managed Identity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ACR + Key Vault + Blob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7191756" y="5257800"/>
            <a:ext cx="365760" cy="109728"/>
          </a:xfrm>
          <a:prstGeom prst="rightArrow">
            <a:avLst/>
          </a:prstGeom>
          <a:solidFill>
            <a:srgbClr val="FF751F"/>
          </a:solidFill>
          <a:ln/>
        </p:spPr>
      </p:sp>
      <p:sp>
        <p:nvSpPr>
          <p:cNvPr id="58" name="Text 56"/>
          <p:cNvSpPr/>
          <p:nvPr/>
        </p:nvSpPr>
        <p:spPr>
          <a:xfrm>
            <a:off x="7557516" y="5120640"/>
            <a:ext cx="2194560" cy="384048"/>
          </a:xfrm>
          <a:prstGeom prst="rect">
            <a:avLst>
              <a:gd name="adj" fmla="val 19048"/>
            </a:avLst>
          </a:prstGeom>
          <a:solidFill>
            <a:srgbClr val="075DD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Ingress &amp; Domain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HTTPS + TLS Certificate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365760" y="5641848"/>
            <a:ext cx="2194560" cy="987552"/>
          </a:xfrm>
          <a:prstGeom prst="rect">
            <a:avLst>
              <a:gd name="adj" fmla="val 4630"/>
            </a:avLst>
          </a:prstGeom>
          <a:solidFill>
            <a:srgbClr val="FFFFFF"/>
          </a:solidFill>
          <a:ln w="12700">
            <a:solidFill>
              <a:srgbClr val="FF751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65760" y="5641848"/>
            <a:ext cx="2194560" cy="36576"/>
          </a:xfrm>
          <a:prstGeom prst="rect">
            <a:avLst/>
          </a:prstGeom>
          <a:solidFill>
            <a:srgbClr val="FF751F"/>
          </a:solidFill>
          <a:ln/>
        </p:spPr>
      </p:sp>
      <p:sp>
        <p:nvSpPr>
          <p:cNvPr id="61" name="Text 59"/>
          <p:cNvSpPr/>
          <p:nvPr/>
        </p:nvSpPr>
        <p:spPr>
          <a:xfrm>
            <a:off x="438912" y="5696712"/>
            <a:ext cx="2048256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75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Container App Config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CPU: 1.0-2.0 vCPU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Memory: 2.0-4.0 Gi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Min replicas: 2 (prod)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Max replicas: 10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Target port: 5000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2743200" y="5641848"/>
            <a:ext cx="2377440" cy="694944"/>
          </a:xfrm>
          <a:prstGeom prst="rect">
            <a:avLst>
              <a:gd name="adj" fmla="val 6579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743200" y="5641848"/>
            <a:ext cx="2377440" cy="36576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64" name="Text 62"/>
          <p:cNvSpPr/>
          <p:nvPr/>
        </p:nvSpPr>
        <p:spPr>
          <a:xfrm>
            <a:off x="2816352" y="5696712"/>
            <a:ext cx="2231136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Identity Roles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AcrPull on Container Registry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Key Vault Secrets User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Storage Blob Data Contributor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03520" y="5641848"/>
            <a:ext cx="2377440" cy="841248"/>
          </a:xfrm>
          <a:prstGeom prst="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075DD1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303520" y="5641848"/>
            <a:ext cx="2377440" cy="36576"/>
          </a:xfrm>
          <a:prstGeom prst="rect">
            <a:avLst/>
          </a:prstGeom>
          <a:solidFill>
            <a:srgbClr val="075DD1"/>
          </a:solidFill>
          <a:ln/>
        </p:spPr>
      </p:sp>
      <p:sp>
        <p:nvSpPr>
          <p:cNvPr id="67" name="Text 65"/>
          <p:cNvSpPr/>
          <p:nvPr/>
        </p:nvSpPr>
        <p:spPr>
          <a:xfrm>
            <a:off x="5376672" y="5696712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075DD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DNS Setup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CNAME → *.azurecontainerapps.io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TXT verification record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Managed TLS certificate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Update OAuth redirect URIs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182880" y="6309360"/>
            <a:ext cx="11823192" cy="1828800"/>
          </a:xfrm>
          <a:prstGeom prst="rect">
            <a:avLst>
              <a:gd name="adj" fmla="val 4000"/>
            </a:avLst>
          </a:prstGeom>
          <a:solidFill>
            <a:srgbClr val="E11D48">
              <a:alpha val="6000"/>
            </a:srgbClr>
          </a:solidFill>
          <a:ln w="12700">
            <a:solidFill>
              <a:srgbClr val="E11D48">
                <a:alpha val="30000"/>
              </a:srgbClr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92608" y="6382512"/>
            <a:ext cx="2263140" cy="201168"/>
          </a:xfrm>
          <a:prstGeom prst="rect">
            <a:avLst>
              <a:gd name="adj" fmla="val 18182"/>
            </a:avLst>
          </a:prstGeom>
          <a:solidFill>
            <a:srgbClr val="E11D48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11D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5: RUNTIME ARCHITECTURE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6035040" y="6172200"/>
            <a:ext cx="109728" cy="137160"/>
          </a:xfrm>
          <a:prstGeom prst="downArrow">
            <a:avLst/>
          </a:prstGeom>
          <a:solidFill>
            <a:srgbClr val="E11D48"/>
          </a:solidFill>
          <a:ln/>
        </p:spPr>
      </p:sp>
      <p:sp>
        <p:nvSpPr>
          <p:cNvPr id="71" name="Text 69"/>
          <p:cNvSpPr/>
          <p:nvPr/>
        </p:nvSpPr>
        <p:spPr>
          <a:xfrm>
            <a:off x="6181344" y="6167628"/>
            <a:ext cx="7315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E11D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4754880" y="6583680"/>
            <a:ext cx="2011680" cy="292608"/>
          </a:xfrm>
          <a:prstGeom prst="rect">
            <a:avLst>
              <a:gd name="adj" fmla="val 50000"/>
            </a:avLst>
          </a:prstGeom>
          <a:solidFill>
            <a:srgbClr val="1725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End Users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HTTPS Traffic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5705856" y="6876288"/>
            <a:ext cx="109728" cy="91440"/>
          </a:xfrm>
          <a:prstGeom prst="downArrow">
            <a:avLst/>
          </a:prstGeom>
          <a:solidFill>
            <a:srgbClr val="17255A"/>
          </a:solidFill>
          <a:ln/>
        </p:spPr>
      </p:sp>
      <p:sp>
        <p:nvSpPr>
          <p:cNvPr id="74" name="Text 72"/>
          <p:cNvSpPr/>
          <p:nvPr/>
        </p:nvSpPr>
        <p:spPr>
          <a:xfrm>
            <a:off x="4114800" y="6995160"/>
            <a:ext cx="3200400" cy="411480"/>
          </a:xfrm>
          <a:prstGeom prst="rect">
            <a:avLst>
              <a:gd name="adj" fmla="val 17778"/>
            </a:avLst>
          </a:prstGeom>
          <a:solidFill>
            <a:srgbClr val="E11D4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FridayReport.AI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Container App (Node.js + Express + React SPA)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7772400" y="6903720"/>
            <a:ext cx="2286000" cy="694944"/>
          </a:xfrm>
          <a:prstGeom prst="rect">
            <a:avLst>
              <a:gd name="adj" fmla="val 6579"/>
            </a:avLst>
          </a:prstGeom>
          <a:solidFill>
            <a:srgbClr val="FFFFFF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772400" y="6903720"/>
            <a:ext cx="2286000" cy="36576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77" name="Text 75"/>
          <p:cNvSpPr/>
          <p:nvPr/>
        </p:nvSpPr>
        <p:spPr>
          <a:xfrm>
            <a:off x="7845552" y="6958584"/>
            <a:ext cx="2139696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E11D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Jobs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Scheduled reports (every 15 min)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Timesheet reminders (weekdays)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node-cron inside container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2825496" y="7543800"/>
            <a:ext cx="1463040" cy="329184"/>
          </a:xfrm>
          <a:prstGeom prst="rect">
            <a:avLst>
              <a:gd name="adj" fmla="val 22222"/>
            </a:avLst>
          </a:prstGeom>
          <a:solidFill>
            <a:srgbClr val="075DD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PostgreSQL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Data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3502152" y="7406640"/>
            <a:ext cx="109728" cy="137160"/>
          </a:xfrm>
          <a:prstGeom prst="downArrow">
            <a:avLst/>
          </a:prstGeom>
          <a:solidFill>
            <a:srgbClr val="075DD1"/>
          </a:solidFill>
          <a:ln/>
        </p:spPr>
      </p:sp>
      <p:sp>
        <p:nvSpPr>
          <p:cNvPr id="80" name="Text 78"/>
          <p:cNvSpPr/>
          <p:nvPr/>
        </p:nvSpPr>
        <p:spPr>
          <a:xfrm>
            <a:off x="4517136" y="7543800"/>
            <a:ext cx="1463040" cy="329184"/>
          </a:xfrm>
          <a:prstGeom prst="rect">
            <a:avLst>
              <a:gd name="adj" fmla="val 22222"/>
            </a:avLst>
          </a:prstGeom>
          <a:solidFill>
            <a:srgbClr val="0891B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Blob Storage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Files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5193792" y="7406640"/>
            <a:ext cx="109728" cy="137160"/>
          </a:xfrm>
          <a:prstGeom prst="downArrow">
            <a:avLst/>
          </a:prstGeom>
          <a:solidFill>
            <a:srgbClr val="0891B2"/>
          </a:solidFill>
          <a:ln/>
        </p:spPr>
      </p:sp>
      <p:sp>
        <p:nvSpPr>
          <p:cNvPr id="82" name="Text 80"/>
          <p:cNvSpPr/>
          <p:nvPr/>
        </p:nvSpPr>
        <p:spPr>
          <a:xfrm>
            <a:off x="6208776" y="7543800"/>
            <a:ext cx="1463040" cy="329184"/>
          </a:xfrm>
          <a:prstGeom prst="rect">
            <a:avLst>
              <a:gd name="adj" fmla="val 22222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Key Vault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Secrets</a:t>
            </a:r>
            <a:endParaRPr lang="en-US" sz="1100" dirty="0"/>
          </a:p>
        </p:txBody>
      </p:sp>
      <p:sp>
        <p:nvSpPr>
          <p:cNvPr id="83" name="Shape 81"/>
          <p:cNvSpPr/>
          <p:nvPr/>
        </p:nvSpPr>
        <p:spPr>
          <a:xfrm>
            <a:off x="6885432" y="7406640"/>
            <a:ext cx="109728" cy="137160"/>
          </a:xfrm>
          <a:prstGeom prst="downArrow">
            <a:avLst/>
          </a:prstGeom>
          <a:solidFill>
            <a:srgbClr val="7C3AED"/>
          </a:solidFill>
          <a:ln/>
        </p:spPr>
      </p:sp>
      <p:sp>
        <p:nvSpPr>
          <p:cNvPr id="84" name="Text 82"/>
          <p:cNvSpPr/>
          <p:nvPr/>
        </p:nvSpPr>
        <p:spPr>
          <a:xfrm>
            <a:off x="7900416" y="7543800"/>
            <a:ext cx="1463040" cy="329184"/>
          </a:xfrm>
          <a:prstGeom prst="rect">
            <a:avLst>
              <a:gd name="adj" fmla="val 22222"/>
            </a:avLst>
          </a:prstGeom>
          <a:solidFill>
            <a:srgbClr val="6B728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Log Analytics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Logs</a:t>
            </a:r>
            <a:endParaRPr lang="en-US" sz="1100" dirty="0"/>
          </a:p>
        </p:txBody>
      </p:sp>
      <p:sp>
        <p:nvSpPr>
          <p:cNvPr id="85" name="Shape 83"/>
          <p:cNvSpPr/>
          <p:nvPr/>
        </p:nvSpPr>
        <p:spPr>
          <a:xfrm>
            <a:off x="8577072" y="7406640"/>
            <a:ext cx="109728" cy="137160"/>
          </a:xfrm>
          <a:prstGeom prst="downArrow">
            <a:avLst/>
          </a:prstGeom>
          <a:solidFill>
            <a:srgbClr val="6B7280"/>
          </a:solidFill>
          <a:ln/>
        </p:spPr>
      </p:sp>
      <p:sp>
        <p:nvSpPr>
          <p:cNvPr id="86" name="Text 84"/>
          <p:cNvSpPr/>
          <p:nvPr/>
        </p:nvSpPr>
        <p:spPr>
          <a:xfrm>
            <a:off x="3351276" y="7854696"/>
            <a:ext cx="228600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EXTERNAL SERVICES (OUTBOUND)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3351276" y="7982712"/>
            <a:ext cx="1645920" cy="274320"/>
          </a:xfrm>
          <a:prstGeom prst="rect">
            <a:avLst>
              <a:gd name="adj" fmla="val 26667"/>
            </a:avLst>
          </a:prstGeom>
          <a:solidFill>
            <a:srgbClr val="075DD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Microsoft Graph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Planner / Dataverse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5271516" y="7982712"/>
            <a:ext cx="1645920" cy="274320"/>
          </a:xfrm>
          <a:prstGeom prst="rect">
            <a:avLst>
              <a:gd name="adj" fmla="val 26667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Google OAuth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Authentication</a:t>
            </a:r>
            <a:endParaRPr lang="en-US" sz="1100" dirty="0"/>
          </a:p>
        </p:txBody>
      </p:sp>
      <p:sp>
        <p:nvSpPr>
          <p:cNvPr id="89" name="Text 87"/>
          <p:cNvSpPr/>
          <p:nvPr/>
        </p:nvSpPr>
        <p:spPr>
          <a:xfrm>
            <a:off x="7191756" y="7982712"/>
            <a:ext cx="1645920" cy="274320"/>
          </a:xfrm>
          <a:prstGeom prst="rect">
            <a:avLst>
              <a:gd name="adj" fmla="val 26667"/>
            </a:avLst>
          </a:prstGeom>
          <a:solidFill>
            <a:srgbClr val="FF751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Resend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Email Delivery</a:t>
            </a:r>
            <a:endParaRPr lang="en-US" sz="1100" dirty="0"/>
          </a:p>
        </p:txBody>
      </p:sp>
      <p:sp>
        <p:nvSpPr>
          <p:cNvPr id="90" name="Shape 88"/>
          <p:cNvSpPr/>
          <p:nvPr/>
        </p:nvSpPr>
        <p:spPr>
          <a:xfrm>
            <a:off x="182880" y="8229600"/>
            <a:ext cx="11823192" cy="256032"/>
          </a:xfrm>
          <a:prstGeom prst="rect">
            <a:avLst>
              <a:gd name="adj" fmla="val 21429"/>
            </a:avLst>
          </a:prstGeom>
          <a:solidFill>
            <a:srgbClr val="17255A">
              <a:alpha val="5000"/>
            </a:srgbClr>
          </a:solidFill>
          <a:ln/>
        </p:spPr>
      </p:sp>
      <p:sp>
        <p:nvSpPr>
          <p:cNvPr id="91" name="Shape 89"/>
          <p:cNvSpPr/>
          <p:nvPr/>
        </p:nvSpPr>
        <p:spPr>
          <a:xfrm>
            <a:off x="365760" y="8293608"/>
            <a:ext cx="128016" cy="128016"/>
          </a:xfrm>
          <a:prstGeom prst="rect">
            <a:avLst>
              <a:gd name="adj" fmla="val 21429"/>
            </a:avLst>
          </a:prstGeom>
          <a:solidFill>
            <a:srgbClr val="10B981"/>
          </a:solidFill>
          <a:ln/>
        </p:spPr>
      </p:sp>
      <p:sp>
        <p:nvSpPr>
          <p:cNvPr id="92" name="Text 90"/>
          <p:cNvSpPr/>
          <p:nvPr/>
        </p:nvSpPr>
        <p:spPr>
          <a:xfrm>
            <a:off x="548640" y="8266176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800" dirty="0"/>
          </a:p>
        </p:txBody>
      </p:sp>
      <p:sp>
        <p:nvSpPr>
          <p:cNvPr id="93" name="Shape 91"/>
          <p:cNvSpPr/>
          <p:nvPr/>
        </p:nvSpPr>
        <p:spPr>
          <a:xfrm>
            <a:off x="2336292" y="8293608"/>
            <a:ext cx="128016" cy="128016"/>
          </a:xfrm>
          <a:prstGeom prst="rect">
            <a:avLst>
              <a:gd name="adj" fmla="val 21429"/>
            </a:avLst>
          </a:prstGeom>
          <a:solidFill>
            <a:srgbClr val="075DD1"/>
          </a:solidFill>
          <a:ln/>
        </p:spPr>
      </p:sp>
      <p:sp>
        <p:nvSpPr>
          <p:cNvPr id="94" name="Text 92"/>
          <p:cNvSpPr/>
          <p:nvPr/>
        </p:nvSpPr>
        <p:spPr>
          <a:xfrm>
            <a:off x="2519172" y="8266176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/ Network</a:t>
            </a:r>
            <a:endParaRPr lang="en-US" sz="800" dirty="0"/>
          </a:p>
        </p:txBody>
      </p:sp>
      <p:sp>
        <p:nvSpPr>
          <p:cNvPr id="95" name="Shape 93"/>
          <p:cNvSpPr/>
          <p:nvPr/>
        </p:nvSpPr>
        <p:spPr>
          <a:xfrm>
            <a:off x="4306824" y="8293608"/>
            <a:ext cx="128016" cy="128016"/>
          </a:xfrm>
          <a:prstGeom prst="rect">
            <a:avLst>
              <a:gd name="adj" fmla="val 21429"/>
            </a:avLst>
          </a:prstGeom>
          <a:solidFill>
            <a:srgbClr val="17255A"/>
          </a:solidFill>
          <a:ln/>
        </p:spPr>
      </p:sp>
      <p:sp>
        <p:nvSpPr>
          <p:cNvPr id="96" name="Text 94"/>
          <p:cNvSpPr/>
          <p:nvPr/>
        </p:nvSpPr>
        <p:spPr>
          <a:xfrm>
            <a:off x="4489704" y="8266176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Infrastructure</a:t>
            </a:r>
            <a:endParaRPr lang="en-US" sz="800" dirty="0"/>
          </a:p>
        </p:txBody>
      </p:sp>
      <p:sp>
        <p:nvSpPr>
          <p:cNvPr id="97" name="Shape 95"/>
          <p:cNvSpPr/>
          <p:nvPr/>
        </p:nvSpPr>
        <p:spPr>
          <a:xfrm>
            <a:off x="6277356" y="8293608"/>
            <a:ext cx="128016" cy="128016"/>
          </a:xfrm>
          <a:prstGeom prst="rect">
            <a:avLst>
              <a:gd name="adj" fmla="val 21429"/>
            </a:avLst>
          </a:prstGeom>
          <a:solidFill>
            <a:srgbClr val="FF751F"/>
          </a:solidFill>
          <a:ln/>
        </p:spPr>
      </p:sp>
      <p:sp>
        <p:nvSpPr>
          <p:cNvPr id="98" name="Text 96"/>
          <p:cNvSpPr/>
          <p:nvPr/>
        </p:nvSpPr>
        <p:spPr>
          <a:xfrm>
            <a:off x="6460236" y="8266176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Deployment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8247888" y="8293608"/>
            <a:ext cx="128016" cy="128016"/>
          </a:xfrm>
          <a:prstGeom prst="rect">
            <a:avLst>
              <a:gd name="adj" fmla="val 21429"/>
            </a:avLst>
          </a:prstGeom>
          <a:solidFill>
            <a:srgbClr val="7C3AED"/>
          </a:solidFill>
          <a:ln/>
        </p:spPr>
      </p:sp>
      <p:sp>
        <p:nvSpPr>
          <p:cNvPr id="100" name="Text 98"/>
          <p:cNvSpPr/>
          <p:nvPr/>
        </p:nvSpPr>
        <p:spPr>
          <a:xfrm>
            <a:off x="8430768" y="8266176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10218420" y="8293608"/>
            <a:ext cx="128016" cy="128016"/>
          </a:xfrm>
          <a:prstGeom prst="rect">
            <a:avLst>
              <a:gd name="adj" fmla="val 21429"/>
            </a:avLst>
          </a:prstGeom>
          <a:solidFill>
            <a:srgbClr val="E11D48"/>
          </a:solidFill>
          <a:ln/>
        </p:spPr>
      </p:sp>
      <p:sp>
        <p:nvSpPr>
          <p:cNvPr id="102" name="Text 100"/>
          <p:cNvSpPr/>
          <p:nvPr/>
        </p:nvSpPr>
        <p:spPr>
          <a:xfrm>
            <a:off x="10401300" y="8266176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Runtime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Azure Deployment Flow</dc:title>
  <dc:subject>PptxGenJS Presentation</dc:subject>
  <dc:creator>FridayReport.AI</dc:creator>
  <cp:lastModifiedBy>FridayReport.AI</cp:lastModifiedBy>
  <cp:revision>1</cp:revision>
  <dcterms:created xsi:type="dcterms:W3CDTF">2026-03-14T18:22:40Z</dcterms:created>
  <dcterms:modified xsi:type="dcterms:W3CDTF">2026-03-14T18:22:40Z</dcterms:modified>
</cp:coreProperties>
</file>