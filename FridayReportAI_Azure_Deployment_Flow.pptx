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7255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7255A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645920"/>
            <a:ext cx="121889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FridayReport.AI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0" y="22860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Container App Deployment Flow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0" y="2926080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pipeline from source code to production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0" y="3383280"/>
            <a:ext cx="121889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 STAGES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202436" y="3657600"/>
            <a:ext cx="1737360" cy="502920"/>
          </a:xfrm>
          <a:prstGeom prst="rect">
            <a:avLst>
              <a:gd name="adj" fmla="val 14545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Build &amp; Containerize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939796" y="3835908"/>
            <a:ext cx="274320" cy="146304"/>
          </a:xfrm>
          <a:prstGeom prst="rightArrow">
            <a:avLst/>
          </a:prstGeom>
          <a:solidFill>
            <a:srgbClr val="6B7280"/>
          </a:solidFill>
          <a:ln/>
        </p:spPr>
      </p:sp>
      <p:sp>
        <p:nvSpPr>
          <p:cNvPr id="10" name="Text 8"/>
          <p:cNvSpPr/>
          <p:nvPr/>
        </p:nvSpPr>
        <p:spPr>
          <a:xfrm>
            <a:off x="3214116" y="3657600"/>
            <a:ext cx="1737360" cy="502920"/>
          </a:xfrm>
          <a:prstGeom prst="rect">
            <a:avLst>
              <a:gd name="adj" fmla="val 14545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Container Registry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951476" y="3835908"/>
            <a:ext cx="274320" cy="146304"/>
          </a:xfrm>
          <a:prstGeom prst="rightArrow">
            <a:avLst/>
          </a:prstGeom>
          <a:solidFill>
            <a:srgbClr val="6B7280"/>
          </a:solidFill>
          <a:ln/>
        </p:spPr>
      </p:sp>
      <p:sp>
        <p:nvSpPr>
          <p:cNvPr id="12" name="Text 10"/>
          <p:cNvSpPr/>
          <p:nvPr/>
        </p:nvSpPr>
        <p:spPr>
          <a:xfrm>
            <a:off x="5225796" y="3657600"/>
            <a:ext cx="1737360" cy="502920"/>
          </a:xfrm>
          <a:prstGeom prst="rect">
            <a:avLst>
              <a:gd name="adj" fmla="val 14545"/>
            </a:avLst>
          </a:prstGeom>
          <a:solidFill>
            <a:srgbClr val="1725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Azure Infrastructure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963156" y="3835908"/>
            <a:ext cx="274320" cy="146304"/>
          </a:xfrm>
          <a:prstGeom prst="rightArrow">
            <a:avLst/>
          </a:prstGeom>
          <a:solidFill>
            <a:srgbClr val="6B7280"/>
          </a:solidFill>
          <a:ln/>
        </p:spPr>
      </p:sp>
      <p:sp>
        <p:nvSpPr>
          <p:cNvPr id="14" name="Text 12"/>
          <p:cNvSpPr/>
          <p:nvPr/>
        </p:nvSpPr>
        <p:spPr>
          <a:xfrm>
            <a:off x="7237476" y="3657600"/>
            <a:ext cx="1737360" cy="502920"/>
          </a:xfrm>
          <a:prstGeom prst="rect">
            <a:avLst>
              <a:gd name="adj" fmla="val 14545"/>
            </a:avLst>
          </a:prstGeom>
          <a:solidFill>
            <a:srgbClr val="FF751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Deploy Container App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974836" y="3835908"/>
            <a:ext cx="274320" cy="146304"/>
          </a:xfrm>
          <a:prstGeom prst="rightArrow">
            <a:avLst/>
          </a:prstGeom>
          <a:solidFill>
            <a:srgbClr val="6B7280"/>
          </a:solidFill>
          <a:ln/>
        </p:spPr>
      </p:sp>
      <p:sp>
        <p:nvSpPr>
          <p:cNvPr id="16" name="Text 14"/>
          <p:cNvSpPr/>
          <p:nvPr/>
        </p:nvSpPr>
        <p:spPr>
          <a:xfrm>
            <a:off x="9249156" y="3657600"/>
            <a:ext cx="1737360" cy="502920"/>
          </a:xfrm>
          <a:prstGeom prst="rect">
            <a:avLst>
              <a:gd name="adj" fmla="val 14545"/>
            </a:avLst>
          </a:prstGeom>
          <a:solidFill>
            <a:srgbClr val="E11D4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Runtime Architecture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0" y="4297680"/>
            <a:ext cx="121889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OPERATIONS &amp; GOVERNANCE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208276" y="4572000"/>
            <a:ext cx="1737360" cy="502920"/>
          </a:xfrm>
          <a:prstGeom prst="rect">
            <a:avLst>
              <a:gd name="adj" fmla="val 14545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Database Migration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945636" y="4750308"/>
            <a:ext cx="274320" cy="146304"/>
          </a:xfrm>
          <a:prstGeom prst="rightArrow">
            <a:avLst/>
          </a:prstGeom>
          <a:solidFill>
            <a:srgbClr val="6B7280"/>
          </a:solidFill>
          <a:ln/>
        </p:spPr>
      </p:sp>
      <p:sp>
        <p:nvSpPr>
          <p:cNvPr id="20" name="Text 18"/>
          <p:cNvSpPr/>
          <p:nvPr/>
        </p:nvSpPr>
        <p:spPr>
          <a:xfrm>
            <a:off x="4219956" y="4572000"/>
            <a:ext cx="1737360" cy="502920"/>
          </a:xfrm>
          <a:prstGeom prst="rect">
            <a:avLst>
              <a:gd name="adj" fmla="val 14545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7</a:t>
            </a:r>
            <a:endParaRPr lang="en-US" sz="16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Env Vars Reference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957316" y="4750308"/>
            <a:ext cx="274320" cy="146304"/>
          </a:xfrm>
          <a:prstGeom prst="rightArrow">
            <a:avLst/>
          </a:prstGeom>
          <a:solidFill>
            <a:srgbClr val="6B7280"/>
          </a:solidFill>
          <a:ln/>
        </p:spPr>
      </p:sp>
      <p:sp>
        <p:nvSpPr>
          <p:cNvPr id="22" name="Text 20"/>
          <p:cNvSpPr/>
          <p:nvPr/>
        </p:nvSpPr>
        <p:spPr>
          <a:xfrm>
            <a:off x="6231636" y="4572000"/>
            <a:ext cx="1737360" cy="502920"/>
          </a:xfrm>
          <a:prstGeom prst="rect">
            <a:avLst>
              <a:gd name="adj" fmla="val 14545"/>
            </a:avLst>
          </a:prstGeom>
          <a:solidFill>
            <a:srgbClr val="1725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8</a:t>
            </a:r>
            <a:endParaRPr lang="en-US" sz="16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Networking &amp; Security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968996" y="4750308"/>
            <a:ext cx="274320" cy="146304"/>
          </a:xfrm>
          <a:prstGeom prst="rightArrow">
            <a:avLst/>
          </a:prstGeom>
          <a:solidFill>
            <a:srgbClr val="6B7280"/>
          </a:solidFill>
          <a:ln/>
        </p:spPr>
      </p:sp>
      <p:sp>
        <p:nvSpPr>
          <p:cNvPr id="24" name="Text 22"/>
          <p:cNvSpPr/>
          <p:nvPr/>
        </p:nvSpPr>
        <p:spPr>
          <a:xfrm>
            <a:off x="8243316" y="4572000"/>
            <a:ext cx="1737360" cy="502920"/>
          </a:xfrm>
          <a:prstGeom prst="rect">
            <a:avLst>
              <a:gd name="adj" fmla="val 14545"/>
            </a:avLst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9</a:t>
            </a:r>
            <a:endParaRPr lang="en-US" sz="16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Storage Migration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208276" y="5212080"/>
            <a:ext cx="1737360" cy="502920"/>
          </a:xfrm>
          <a:prstGeom prst="rect">
            <a:avLst>
              <a:gd name="adj" fmla="val 14545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10</a:t>
            </a:r>
            <a:endParaRPr lang="en-US" sz="16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CI/CD Pipeline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945636" y="5390388"/>
            <a:ext cx="274320" cy="146304"/>
          </a:xfrm>
          <a:prstGeom prst="rightArrow">
            <a:avLst/>
          </a:prstGeom>
          <a:solidFill>
            <a:srgbClr val="6B7280"/>
          </a:solidFill>
          <a:ln/>
        </p:spPr>
      </p:sp>
      <p:sp>
        <p:nvSpPr>
          <p:cNvPr id="27" name="Text 25"/>
          <p:cNvSpPr/>
          <p:nvPr/>
        </p:nvSpPr>
        <p:spPr>
          <a:xfrm>
            <a:off x="4219956" y="5212080"/>
            <a:ext cx="1737360" cy="502920"/>
          </a:xfrm>
          <a:prstGeom prst="rect">
            <a:avLst>
              <a:gd name="adj" fmla="val 14545"/>
            </a:avLst>
          </a:prstGeom>
          <a:solidFill>
            <a:srgbClr val="FF751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11</a:t>
            </a:r>
            <a:endParaRPr lang="en-US" sz="16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Rollback &amp; Updates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957316" y="5390388"/>
            <a:ext cx="274320" cy="146304"/>
          </a:xfrm>
          <a:prstGeom prst="rightArrow">
            <a:avLst/>
          </a:prstGeom>
          <a:solidFill>
            <a:srgbClr val="6B7280"/>
          </a:solidFill>
          <a:ln/>
        </p:spPr>
      </p:sp>
      <p:sp>
        <p:nvSpPr>
          <p:cNvPr id="29" name="Text 27"/>
          <p:cNvSpPr/>
          <p:nvPr/>
        </p:nvSpPr>
        <p:spPr>
          <a:xfrm>
            <a:off x="6231636" y="5212080"/>
            <a:ext cx="1737360" cy="502920"/>
          </a:xfrm>
          <a:prstGeom prst="rect">
            <a:avLst>
              <a:gd name="adj" fmla="val 14545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12</a:t>
            </a:r>
            <a:endParaRPr lang="en-US" sz="16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Pre-Deploy Checklist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68996" y="5390388"/>
            <a:ext cx="274320" cy="146304"/>
          </a:xfrm>
          <a:prstGeom prst="rightArrow">
            <a:avLst/>
          </a:prstGeom>
          <a:solidFill>
            <a:srgbClr val="6B7280"/>
          </a:solidFill>
          <a:ln/>
        </p:spPr>
      </p:sp>
      <p:sp>
        <p:nvSpPr>
          <p:cNvPr id="31" name="Text 29"/>
          <p:cNvSpPr/>
          <p:nvPr/>
        </p:nvSpPr>
        <p:spPr>
          <a:xfrm>
            <a:off x="8243316" y="5212080"/>
            <a:ext cx="1737360" cy="502920"/>
          </a:xfrm>
          <a:prstGeom prst="rect">
            <a:avLst>
              <a:gd name="adj" fmla="val 14545"/>
            </a:avLst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13</a:t>
            </a:r>
            <a:endParaRPr lang="en-US" sz="16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Cost Estimation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28600"/>
            <a:ext cx="1097280" cy="329184"/>
          </a:xfrm>
          <a:prstGeom prst="rect">
            <a:avLst>
              <a:gd name="adj" fmla="val 16667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645920" y="201168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&amp; Containerize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11457432" cy="18288"/>
          </a:xfrm>
          <a:prstGeom prst="rect">
            <a:avLst/>
          </a:prstGeom>
          <a:solidFill>
            <a:srgbClr val="10B981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FridayReport.AI — Azure Deployment Flow  |  Stage 1 of 13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973836" y="1280160"/>
            <a:ext cx="1828800" cy="502920"/>
          </a:xfrm>
          <a:prstGeom prst="rect">
            <a:avLst>
              <a:gd name="adj" fmla="val 18182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Source Code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TypeScript + React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02636" y="1458468"/>
            <a:ext cx="274320" cy="146304"/>
          </a:xfrm>
          <a:prstGeom prst="rightArrow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3076956" y="1280160"/>
            <a:ext cx="1828800" cy="502920"/>
          </a:xfrm>
          <a:prstGeom prst="rect">
            <a:avLst>
              <a:gd name="adj" fmla="val 18182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npm run build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Vite + esbuild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905756" y="1458468"/>
            <a:ext cx="274320" cy="146304"/>
          </a:xfrm>
          <a:prstGeom prst="rightArrow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5180076" y="1280160"/>
            <a:ext cx="1828800" cy="502920"/>
          </a:xfrm>
          <a:prstGeom prst="rect">
            <a:avLst>
              <a:gd name="adj" fmla="val 18182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Build Artifacts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dist/index.cjs + public/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008876" y="1458468"/>
            <a:ext cx="274320" cy="146304"/>
          </a:xfrm>
          <a:prstGeom prst="rightArrow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7283196" y="1280160"/>
            <a:ext cx="1828800" cy="502920"/>
          </a:xfrm>
          <a:prstGeom prst="rect">
            <a:avLst>
              <a:gd name="adj" fmla="val 18182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Docker Build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Multi-stage Dockerfile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11996" y="1458468"/>
            <a:ext cx="274320" cy="146304"/>
          </a:xfrm>
          <a:prstGeom prst="rightArrow">
            <a:avLst/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9386316" y="1280160"/>
            <a:ext cx="1828800" cy="502920"/>
          </a:xfrm>
          <a:prstGeom prst="rect">
            <a:avLst>
              <a:gd name="adj" fmla="val 18182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Container Image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Node.js 20 + JRE 17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201168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build pipeline compiles TypeScript source into production-ready artifacts, then packages them into a Docker container image.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256032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2560320"/>
            <a:ext cx="347472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65176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Output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dist/index.cjs — Bundled Express server (single file)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dist/public/ — React SPA assets (HTML, JS, CSS)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public/ — Static assets (avatars, logos, favicons)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lib/ — MPXJ JAR files for Microsoft Project parsing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89120" y="256032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89120" y="2560320"/>
            <a:ext cx="347472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3" name="Text 21"/>
          <p:cNvSpPr/>
          <p:nvPr/>
        </p:nvSpPr>
        <p:spPr>
          <a:xfrm>
            <a:off x="4498848" y="265176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Dockerfile Highlights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Multi-stage build: build stage → slim runtime stage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Base: node:20-slim with JRE 17 (for MPXJ library)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Final image size: ~400-600 MB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Entrypoint: node dist/index.cjs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29600" y="256032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0" y="2560320"/>
            <a:ext cx="347472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6" name="Text 24"/>
          <p:cNvSpPr/>
          <p:nvPr/>
        </p:nvSpPr>
        <p:spPr>
          <a:xfrm>
            <a:off x="8339328" y="265176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Commands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npm ci — Install dependencies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npm run build — Vite frontend + esbuild backend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docker build -t fridayreport . — Build image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docker tag fridayreport &lt;acr&gt;.azurecr.io/fridayreport:latest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389120"/>
            <a:ext cx="5029200" cy="1225296"/>
          </a:xfrm>
          <a:prstGeom prst="rect">
            <a:avLst>
              <a:gd name="adj" fmla="val 4478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389120"/>
            <a:ext cx="502920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29" name="Text 27"/>
          <p:cNvSpPr/>
          <p:nvPr/>
        </p:nvSpPr>
        <p:spPr>
          <a:xfrm>
            <a:off x="658368" y="4462272"/>
            <a:ext cx="480974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Developer / CI Pipeline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Read access to source code repository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Docker daemon access (local or CI runner)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npm registry access for package installation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 Azure permissions needed at this stage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943600" y="4389120"/>
            <a:ext cx="5669280" cy="1024128"/>
          </a:xfrm>
          <a:prstGeom prst="rect">
            <a:avLst>
              <a:gd name="adj" fmla="val 5357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4389120"/>
            <a:ext cx="566928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32" name="Text 30"/>
          <p:cNvSpPr/>
          <p:nvPr/>
        </p:nvSpPr>
        <p:spPr>
          <a:xfrm>
            <a:off x="6053328" y="4462272"/>
            <a:ext cx="544982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CI/CD Service Principal (if automated)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Azure DevOps: Build Agent access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GitHub Actions: GITHUB_TOKEN (for checkout)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Docker socket or Docker-in-Docker capability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28600"/>
            <a:ext cx="1097280" cy="329184"/>
          </a:xfrm>
          <a:prstGeom prst="rect">
            <a:avLst>
              <a:gd name="adj" fmla="val 16667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645920" y="201168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Container Registry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11457432" cy="18288"/>
          </a:xfrm>
          <a:prstGeom prst="rect">
            <a:avLst/>
          </a:prstGeom>
          <a:solidFill>
            <a:srgbClr val="075DD1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FridayReport.AI — Azure Deployment Flow  |  Stage 2 of 13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1463040"/>
            <a:ext cx="2286000" cy="548640"/>
          </a:xfrm>
          <a:prstGeom prst="rect">
            <a:avLst>
              <a:gd name="adj" fmla="val 16667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Container Image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Local Docker Image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0" y="1664208"/>
            <a:ext cx="1371600" cy="146304"/>
          </a:xfrm>
          <a:prstGeom prst="rightArrow">
            <a:avLst/>
          </a:prstGeom>
          <a:solidFill>
            <a:srgbClr val="075DD1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280160"/>
            <a:ext cx="3200400" cy="731520"/>
          </a:xfrm>
          <a:prstGeom prst="rect">
            <a:avLst>
              <a:gd name="adj" fmla="val 12500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Azure Container Registry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fridayreportacr.azurecr.io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1572768"/>
            <a:ext cx="1097280" cy="146304"/>
          </a:xfrm>
          <a:prstGeom prst="rightArrow">
            <a:avLst/>
          </a:prstGeom>
          <a:solidFill>
            <a:srgbClr val="17255A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0" y="1463040"/>
            <a:ext cx="2286000" cy="548640"/>
          </a:xfrm>
          <a:prstGeom prst="rect">
            <a:avLst>
              <a:gd name="adj" fmla="val 16667"/>
            </a:avLst>
          </a:prstGeom>
          <a:solidFill>
            <a:srgbClr val="1725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Container App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Pulls image at deploy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132588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 push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412480" y="132588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AcrPull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246888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container image is pushed to Azure Container Registry, which acts as the private image store. Container Apps pull the image from ACR using Managed Identity.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01752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075DD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017520"/>
            <a:ext cx="3474720" cy="54864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310896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ACR Configuration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SKU: Standard (dev) or Premium (prod)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Geo-replication available on Premium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Admin access: Disabled (use Managed Identity)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Retention policy: 30 days for untagged manifests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89120" y="301752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075DD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89120" y="3017520"/>
            <a:ext cx="3474720" cy="54864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21" name="Text 19"/>
          <p:cNvSpPr/>
          <p:nvPr/>
        </p:nvSpPr>
        <p:spPr>
          <a:xfrm>
            <a:off x="4498848" y="310896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 Commands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 acr login --name fridayreportacr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docker tag fridayreport fridayreportacr.azurecr.io/fridayreport:v1.0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docker push fridayreportacr.azurecr.io/fridayreport:v1.0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Alternative: az acr build -t fridayreport:v1.0 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229600" y="301752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075DD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0" y="3017520"/>
            <a:ext cx="3474720" cy="54864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24" name="Text 22"/>
          <p:cNvSpPr/>
          <p:nvPr/>
        </p:nvSpPr>
        <p:spPr>
          <a:xfrm>
            <a:off x="8339328" y="310896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Image Tagging Strategy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latest — Most recent build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v1.0, v1.1 — Semantic version tags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git-&lt;sha&gt; — Git commit hash for traceability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 immutable tags in production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572000"/>
            <a:ext cx="5029200" cy="1225296"/>
          </a:xfrm>
          <a:prstGeom prst="rect">
            <a:avLst>
              <a:gd name="adj" fmla="val 4478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572000"/>
            <a:ext cx="502920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27" name="Text 25"/>
          <p:cNvSpPr/>
          <p:nvPr/>
        </p:nvSpPr>
        <p:spPr>
          <a:xfrm>
            <a:off x="658368" y="4645152"/>
            <a:ext cx="480974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Deployer / CI Service Principal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AcrPush — Push images to Container Registry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AcrPull — Pull images (assigned to Container App identity)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 acr login — Requires AAD authentication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If using az acr build: AcrPush + Contributor on ACR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0" y="4572000"/>
            <a:ext cx="5669280" cy="1024128"/>
          </a:xfrm>
          <a:prstGeom prst="rect">
            <a:avLst>
              <a:gd name="adj" fmla="val 5357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4572000"/>
            <a:ext cx="566928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30" name="Text 28"/>
          <p:cNvSpPr/>
          <p:nvPr/>
        </p:nvSpPr>
        <p:spPr>
          <a:xfrm>
            <a:off x="6053328" y="4645152"/>
            <a:ext cx="544982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ACR Admin (initial setup only)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Contributor on ACR resource (to create/configure)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Access Administrator (to assign AcrPush/AcrPull roles)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Disable admin user — use RBAC-only access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7255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28600"/>
            <a:ext cx="1097280" cy="329184"/>
          </a:xfrm>
          <a:prstGeom prst="rect">
            <a:avLst>
              <a:gd name="adj" fmla="val 16667"/>
            </a:avLst>
          </a:prstGeom>
          <a:solidFill>
            <a:srgbClr val="1725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645920" y="201168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Infrastructure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11457432" cy="18288"/>
          </a:xfrm>
          <a:prstGeom prst="rect">
            <a:avLst/>
          </a:prstGeom>
          <a:solidFill>
            <a:srgbClr val="17255A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FridayReport.AI — Azure Deployment Flow  |  Stage 3 of 13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7255A"/>
          </a:solidFill>
          <a:ln/>
        </p:spPr>
      </p:sp>
      <p:sp>
        <p:nvSpPr>
          <p:cNvPr id="8" name="Text 6"/>
          <p:cNvSpPr/>
          <p:nvPr/>
        </p:nvSpPr>
        <p:spPr>
          <a:xfrm>
            <a:off x="928116" y="1371600"/>
            <a:ext cx="1554480" cy="502920"/>
          </a:xfrm>
          <a:prstGeom prst="rect">
            <a:avLst>
              <a:gd name="adj" fmla="val 18182"/>
            </a:avLst>
          </a:prstGeom>
          <a:solidFill>
            <a:srgbClr val="1725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Resource Group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fridayreport-rg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482596" y="1549908"/>
            <a:ext cx="201168" cy="146304"/>
          </a:xfrm>
          <a:prstGeom prst="rightArrow">
            <a:avLst/>
          </a:prstGeom>
          <a:solidFill>
            <a:srgbClr val="17255A"/>
          </a:solidFill>
          <a:ln/>
        </p:spPr>
      </p:sp>
      <p:sp>
        <p:nvSpPr>
          <p:cNvPr id="10" name="Text 8"/>
          <p:cNvSpPr/>
          <p:nvPr/>
        </p:nvSpPr>
        <p:spPr>
          <a:xfrm>
            <a:off x="2683764" y="1371600"/>
            <a:ext cx="1554480" cy="502920"/>
          </a:xfrm>
          <a:prstGeom prst="rect">
            <a:avLst>
              <a:gd name="adj" fmla="val 18182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PostgreSQL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Flexible Server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38244" y="1549908"/>
            <a:ext cx="201168" cy="146304"/>
          </a:xfrm>
          <a:prstGeom prst="rightArrow">
            <a:avLst/>
          </a:prstGeom>
          <a:solidFill>
            <a:srgbClr val="17255A"/>
          </a:solidFill>
          <a:ln/>
        </p:spPr>
      </p:sp>
      <p:sp>
        <p:nvSpPr>
          <p:cNvPr id="12" name="Text 10"/>
          <p:cNvSpPr/>
          <p:nvPr/>
        </p:nvSpPr>
        <p:spPr>
          <a:xfrm>
            <a:off x="4439412" y="1371600"/>
            <a:ext cx="1554480" cy="502920"/>
          </a:xfrm>
          <a:prstGeom prst="rect">
            <a:avLst>
              <a:gd name="adj" fmla="val 18182"/>
            </a:avLst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Blob Storage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File Uploads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93892" y="1549908"/>
            <a:ext cx="201168" cy="146304"/>
          </a:xfrm>
          <a:prstGeom prst="rightArrow">
            <a:avLst/>
          </a:prstGeom>
          <a:solidFill>
            <a:srgbClr val="17255A"/>
          </a:solidFill>
          <a:ln/>
        </p:spPr>
      </p:sp>
      <p:sp>
        <p:nvSpPr>
          <p:cNvPr id="14" name="Text 12"/>
          <p:cNvSpPr/>
          <p:nvPr/>
        </p:nvSpPr>
        <p:spPr>
          <a:xfrm>
            <a:off x="6195060" y="1371600"/>
            <a:ext cx="1554480" cy="502920"/>
          </a:xfrm>
          <a:prstGeom prst="rect">
            <a:avLst>
              <a:gd name="adj" fmla="val 18182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Key Vault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Secrets Mgmt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749540" y="1549908"/>
            <a:ext cx="201168" cy="146304"/>
          </a:xfrm>
          <a:prstGeom prst="rightArrow">
            <a:avLst/>
          </a:prstGeom>
          <a:solidFill>
            <a:srgbClr val="17255A"/>
          </a:solidFill>
          <a:ln/>
        </p:spPr>
      </p:sp>
      <p:sp>
        <p:nvSpPr>
          <p:cNvPr id="16" name="Text 14"/>
          <p:cNvSpPr/>
          <p:nvPr/>
        </p:nvSpPr>
        <p:spPr>
          <a:xfrm>
            <a:off x="7950708" y="1371600"/>
            <a:ext cx="1554480" cy="502920"/>
          </a:xfrm>
          <a:prstGeom prst="rect">
            <a:avLst>
              <a:gd name="adj" fmla="val 18182"/>
            </a:avLst>
          </a:prstGeom>
          <a:solidFill>
            <a:srgbClr val="6B728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Log Analytics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Monitoring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505188" y="1549908"/>
            <a:ext cx="201168" cy="146304"/>
          </a:xfrm>
          <a:prstGeom prst="rightArrow">
            <a:avLst/>
          </a:prstGeom>
          <a:solidFill>
            <a:srgbClr val="17255A"/>
          </a:solidFill>
          <a:ln/>
        </p:spPr>
      </p:sp>
      <p:sp>
        <p:nvSpPr>
          <p:cNvPr id="18" name="Text 16"/>
          <p:cNvSpPr/>
          <p:nvPr/>
        </p:nvSpPr>
        <p:spPr>
          <a:xfrm>
            <a:off x="9706356" y="1371600"/>
            <a:ext cx="1554480" cy="502920"/>
          </a:xfrm>
          <a:prstGeom prst="rect">
            <a:avLst>
              <a:gd name="adj" fmla="val 18182"/>
            </a:avLst>
          </a:prstGeom>
          <a:solidFill>
            <a:srgbClr val="1725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Container Env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Hosting Env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21031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Azure resources are provisioned inside a single Resource Group. Resources are created in order — each step depends on the previous one.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2651760"/>
            <a:ext cx="3474720" cy="1389888"/>
          </a:xfrm>
          <a:prstGeom prst="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075DD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2651760"/>
            <a:ext cx="3474720" cy="54864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" y="2743200"/>
            <a:ext cx="325526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Config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Version: 15+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SKU: Standard_D4ds_v4 (production)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SKU: Standard_B1ms (development)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Extension: unaccent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HA: Zone-redundant in production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89120" y="2651760"/>
            <a:ext cx="3474720" cy="1389888"/>
          </a:xfrm>
          <a:prstGeom prst="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89120" y="2651760"/>
            <a:ext cx="347472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5" name="Text 23"/>
          <p:cNvSpPr/>
          <p:nvPr/>
        </p:nvSpPr>
        <p:spPr>
          <a:xfrm>
            <a:off x="4498848" y="2743200"/>
            <a:ext cx="325526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Vault Secrets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DATABASE_URL — PostgreSQL connection string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SESSION_SECRET — Express session signing key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GOOGLE_CLIENT_ID / SECRET — Google OAuth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MICROSOFT_CLIENT_ID / SECRET — Entra ID OAuth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RESEND_API_KEY — Email service key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229600" y="265176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0" y="2651760"/>
            <a:ext cx="347472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8" name="Text 26"/>
          <p:cNvSpPr/>
          <p:nvPr/>
        </p:nvSpPr>
        <p:spPr>
          <a:xfrm>
            <a:off x="8339328" y="274320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Storage &amp; Monitoring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Blob Storage: Standard LRS (dev) / GRS (prod)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Container: uploads (file attachments)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Log Analytics workspace for Container App logs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Log retention: 30 days (configurable)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389120"/>
            <a:ext cx="5029200" cy="1627632"/>
          </a:xfrm>
          <a:prstGeom prst="rect">
            <a:avLst>
              <a:gd name="adj" fmla="val 3371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389120"/>
            <a:ext cx="502920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" y="4462272"/>
            <a:ext cx="4809744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Infrastructure Admin / Terraform SP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Contributor on Resource Group (create all resources)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Microsoft.DBforPostgreSQL/* — Create PostgreSQL server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Microsoft.Storage/* — Create Storage Account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Microsoft.KeyVault/* — Create and configure Key Vault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Microsoft.OperationalInsights/* — Create Log Analytics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Microsoft.App/* — Create Container App Environment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0" y="4389120"/>
            <a:ext cx="5669280" cy="1426464"/>
          </a:xfrm>
          <a:prstGeom prst="rect">
            <a:avLst>
              <a:gd name="adj" fmla="val 3846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4389120"/>
            <a:ext cx="566928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34" name="Text 32"/>
          <p:cNvSpPr/>
          <p:nvPr/>
        </p:nvSpPr>
        <p:spPr>
          <a:xfrm>
            <a:off x="6053328" y="4462272"/>
            <a:ext cx="544982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Key Vault Secrets Officer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Key Vault Administrator or Secrets Officer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Set secrets: DATABASE_URL, SESSION_SECRET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Set secrets: GOOGLE/MICROSOFT OAuth credentials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Set secrets: RESEND_API_KEY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Uses Azure RBAC (not vault access policies)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751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28600"/>
            <a:ext cx="1097280" cy="329184"/>
          </a:xfrm>
          <a:prstGeom prst="rect">
            <a:avLst>
              <a:gd name="adj" fmla="val 16667"/>
            </a:avLst>
          </a:prstGeom>
          <a:solidFill>
            <a:srgbClr val="FF751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645920" y="201168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Container App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11457432" cy="18288"/>
          </a:xfrm>
          <a:prstGeom prst="rect">
            <a:avLst/>
          </a:prstGeom>
          <a:solidFill>
            <a:srgbClr val="FF751F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FridayReport.AI — Azure Deployment Flow  |  Stage 4 of 13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751F"/>
          </a:solidFill>
          <a:ln/>
        </p:spPr>
      </p:sp>
      <p:sp>
        <p:nvSpPr>
          <p:cNvPr id="8" name="Text 6"/>
          <p:cNvSpPr/>
          <p:nvPr/>
        </p:nvSpPr>
        <p:spPr>
          <a:xfrm>
            <a:off x="1705356" y="1371600"/>
            <a:ext cx="2560320" cy="548640"/>
          </a:xfrm>
          <a:prstGeom prst="rect">
            <a:avLst>
              <a:gd name="adj" fmla="val 16667"/>
            </a:avLst>
          </a:prstGeom>
          <a:solidFill>
            <a:srgbClr val="FF751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Create Container App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az containerapp create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65676" y="1572768"/>
            <a:ext cx="548640" cy="146304"/>
          </a:xfrm>
          <a:prstGeom prst="rightArrow">
            <a:avLst/>
          </a:prstGeom>
          <a:solidFill>
            <a:srgbClr val="FF751F"/>
          </a:solidFill>
          <a:ln/>
        </p:spPr>
      </p:sp>
      <p:sp>
        <p:nvSpPr>
          <p:cNvPr id="10" name="Text 8"/>
          <p:cNvSpPr/>
          <p:nvPr/>
        </p:nvSpPr>
        <p:spPr>
          <a:xfrm>
            <a:off x="4814316" y="1371600"/>
            <a:ext cx="2560320" cy="548640"/>
          </a:xfrm>
          <a:prstGeom prst="rect">
            <a:avLst>
              <a:gd name="adj" fmla="val 16667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Managed Identity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ACR + Key Vault + Blob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74636" y="1572768"/>
            <a:ext cx="548640" cy="146304"/>
          </a:xfrm>
          <a:prstGeom prst="rightArrow">
            <a:avLst/>
          </a:prstGeom>
          <a:solidFill>
            <a:srgbClr val="FF751F"/>
          </a:solidFill>
          <a:ln/>
        </p:spPr>
      </p:sp>
      <p:sp>
        <p:nvSpPr>
          <p:cNvPr id="12" name="Text 10"/>
          <p:cNvSpPr/>
          <p:nvPr/>
        </p:nvSpPr>
        <p:spPr>
          <a:xfrm>
            <a:off x="7923276" y="1371600"/>
            <a:ext cx="2560320" cy="548640"/>
          </a:xfrm>
          <a:prstGeom prst="rect">
            <a:avLst>
              <a:gd name="adj" fmla="val 16667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Ingress &amp; Domain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HTTPS + TLS Certificate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219456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Container App is created with secrets, environment variables, scaling rules, and ingress configuration. Managed Identity replaces stored credentials.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743200"/>
            <a:ext cx="3474720" cy="1591056"/>
          </a:xfrm>
          <a:prstGeom prst="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FF75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743200"/>
            <a:ext cx="3474720" cy="54864"/>
          </a:xfrm>
          <a:prstGeom prst="rect">
            <a:avLst/>
          </a:prstGeom>
          <a:solidFill>
            <a:srgbClr val="FF751F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2834640"/>
            <a:ext cx="3255264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75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Container App Config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CPU: 1.0 vCPU (dev) / 2.0 vCPU (prod)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Memory: 2.0 Gi (dev) / 4.0 Gi (prod)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Min replicas: 1 (dev) / 2 (prod)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Max replicas: 3 (dev) / 10 (prod)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Target port: 5000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Health probe: /api/health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89120" y="2743200"/>
            <a:ext cx="3474720" cy="1389888"/>
          </a:xfrm>
          <a:prstGeom prst="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9120" y="2743200"/>
            <a:ext cx="347472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4498848" y="2834640"/>
            <a:ext cx="325526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Identity Role Assignments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AcrPull — Pull images from Container Registry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Key Vault Secrets User — Read secrets at startup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Storage Blob Data Contributor — Upload/download files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Uses system-assigned Managed Identity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 client secrets or connection strings needed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29600" y="2743200"/>
            <a:ext cx="3474720" cy="1389888"/>
          </a:xfrm>
          <a:prstGeom prst="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075DD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0" y="2743200"/>
            <a:ext cx="3474720" cy="54864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22" name="Text 20"/>
          <p:cNvSpPr/>
          <p:nvPr/>
        </p:nvSpPr>
        <p:spPr>
          <a:xfrm>
            <a:off x="8339328" y="2834640"/>
            <a:ext cx="325526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DNS &amp; Ingress Setup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CNAME: app.fridayreport.ai → *.azurecontainerapps.io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TXT: asuid.app → domain verification ID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Managed TLS certificate (auto-renewed)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Update Google OAuth redirect URIs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Update Microsoft Entra ID redirect URIs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572000"/>
            <a:ext cx="3474720" cy="1024128"/>
          </a:xfrm>
          <a:prstGeom prst="rect">
            <a:avLst>
              <a:gd name="adj" fmla="val 5357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572000"/>
            <a:ext cx="347472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645152"/>
            <a:ext cx="325526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Container App Deployer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Contributor on Container App Environment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Microsoft.App/containerApps/* — Create/update apps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AcrPull on ACR (assigned to app's Managed Identity)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389120" y="4572000"/>
            <a:ext cx="3474720" cy="1225296"/>
          </a:xfrm>
          <a:prstGeom prst="rect">
            <a:avLst>
              <a:gd name="adj" fmla="val 4478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89120" y="4572000"/>
            <a:ext cx="347472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28" name="Text 26"/>
          <p:cNvSpPr/>
          <p:nvPr/>
        </p:nvSpPr>
        <p:spPr>
          <a:xfrm>
            <a:off x="4498848" y="4645152"/>
            <a:ext cx="325526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Identity &amp; Role Admin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Access Administrator on Resource Group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Assign AcrPull to Container App identity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Assign Key Vault Secrets User to app identity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Assign Storage Blob Data Contributor to app identity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229600" y="4572000"/>
            <a:ext cx="3474720" cy="1225296"/>
          </a:xfrm>
          <a:prstGeom prst="rect">
            <a:avLst>
              <a:gd name="adj" fmla="val 4478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29600" y="4572000"/>
            <a:ext cx="347472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31" name="Text 29"/>
          <p:cNvSpPr/>
          <p:nvPr/>
        </p:nvSpPr>
        <p:spPr>
          <a:xfrm>
            <a:off x="8339328" y="4645152"/>
            <a:ext cx="325526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DNS Administrator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DNS zone management (external registrar)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Create CNAME and TXT records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Google Cloud Console access (OAuth config)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Azure Portal: App Registrations (Entra ID)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28600"/>
            <a:ext cx="1097280" cy="329184"/>
          </a:xfrm>
          <a:prstGeom prst="rect">
            <a:avLst>
              <a:gd name="adj" fmla="val 16667"/>
            </a:avLst>
          </a:prstGeom>
          <a:solidFill>
            <a:srgbClr val="E11D4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645920" y="201168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Runtime Architecture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11457432" cy="18288"/>
          </a:xfrm>
          <a:prstGeom prst="rect">
            <a:avLst/>
          </a:prstGeom>
          <a:solidFill>
            <a:srgbClr val="E11D48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FridayReport.AI — Azure Deployment Flow  |  Stage 5 of 13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8" name="Text 6"/>
          <p:cNvSpPr/>
          <p:nvPr/>
        </p:nvSpPr>
        <p:spPr>
          <a:xfrm>
            <a:off x="4905756" y="1097280"/>
            <a:ext cx="2377440" cy="411480"/>
          </a:xfrm>
          <a:prstGeom prst="rect">
            <a:avLst>
              <a:gd name="adj" fmla="val 48889"/>
            </a:avLst>
          </a:prstGeom>
          <a:solidFill>
            <a:srgbClr val="1725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End Users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HTTPS Traffic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21324" y="1508760"/>
            <a:ext cx="146304" cy="228600"/>
          </a:xfrm>
          <a:prstGeom prst="downArrow">
            <a:avLst/>
          </a:prstGeom>
          <a:solidFill>
            <a:srgbClr val="17255A"/>
          </a:solidFill>
          <a:ln/>
        </p:spPr>
      </p:sp>
      <p:sp>
        <p:nvSpPr>
          <p:cNvPr id="10" name="Text 8"/>
          <p:cNvSpPr/>
          <p:nvPr/>
        </p:nvSpPr>
        <p:spPr>
          <a:xfrm>
            <a:off x="6222492" y="153162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ingress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82796" y="1828800"/>
            <a:ext cx="4023360" cy="594360"/>
          </a:xfrm>
          <a:prstGeom prst="rect">
            <a:avLst>
              <a:gd name="adj" fmla="val 15385"/>
            </a:avLst>
          </a:prstGeom>
          <a:solidFill>
            <a:srgbClr val="E11D4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FridayReport.AI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Container App (Node.js + Express + React SPA)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0" y="1645920"/>
            <a:ext cx="329184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E11D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1645920"/>
            <a:ext cx="3291840" cy="54864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4" name="Text 12"/>
          <p:cNvSpPr/>
          <p:nvPr/>
        </p:nvSpPr>
        <p:spPr>
          <a:xfrm>
            <a:off x="8339328" y="1737360"/>
            <a:ext cx="307238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11D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Jobs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Scheduled reports — every 15 min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Timesheet reminders — weekdays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Runs via node-cron inside container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 external scheduler needed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956816" y="2880360"/>
            <a:ext cx="1828800" cy="457200"/>
          </a:xfrm>
          <a:prstGeom prst="rect">
            <a:avLst>
              <a:gd name="adj" fmla="val 20000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PostgreSQL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Data Persistence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798064" y="2423160"/>
            <a:ext cx="146304" cy="457200"/>
          </a:xfrm>
          <a:prstGeom prst="downArrow">
            <a:avLst/>
          </a:prstGeom>
          <a:solidFill>
            <a:srgbClr val="075DD1"/>
          </a:solidFill>
          <a:ln/>
        </p:spPr>
      </p:sp>
      <p:sp>
        <p:nvSpPr>
          <p:cNvPr id="17" name="Text 15"/>
          <p:cNvSpPr/>
          <p:nvPr/>
        </p:nvSpPr>
        <p:spPr>
          <a:xfrm>
            <a:off x="4105656" y="2880360"/>
            <a:ext cx="1828800" cy="457200"/>
          </a:xfrm>
          <a:prstGeom prst="rect">
            <a:avLst>
              <a:gd name="adj" fmla="val 20000"/>
            </a:avLst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Blob Storage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File Storage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946904" y="2423160"/>
            <a:ext cx="146304" cy="457200"/>
          </a:xfrm>
          <a:prstGeom prst="downArrow">
            <a:avLst/>
          </a:prstGeom>
          <a:solidFill>
            <a:srgbClr val="0891B2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2880360"/>
            <a:ext cx="1828800" cy="457200"/>
          </a:xfrm>
          <a:prstGeom prst="rect">
            <a:avLst>
              <a:gd name="adj" fmla="val 20000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Key Vault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Secrets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095744" y="2423160"/>
            <a:ext cx="146304" cy="457200"/>
          </a:xfrm>
          <a:prstGeom prst="downArrow">
            <a:avLst/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8403336" y="2880360"/>
            <a:ext cx="1828800" cy="457200"/>
          </a:xfrm>
          <a:prstGeom prst="rect">
            <a:avLst>
              <a:gd name="adj" fmla="val 20000"/>
            </a:avLst>
          </a:prstGeom>
          <a:solidFill>
            <a:srgbClr val="6B728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Log Analytics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Monitoring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244584" y="2423160"/>
            <a:ext cx="146304" cy="457200"/>
          </a:xfrm>
          <a:prstGeom prst="downArrow">
            <a:avLst/>
          </a:prstGeom>
          <a:solidFill>
            <a:srgbClr val="6B7280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70332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EXTERNAL SERVICES (OUTBOUND)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391156" y="3931920"/>
            <a:ext cx="2194560" cy="411480"/>
          </a:xfrm>
          <a:prstGeom prst="rect">
            <a:avLst>
              <a:gd name="adj" fmla="val 22222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Microsoft Graph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Planner / Dataverse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97196" y="3931920"/>
            <a:ext cx="2194560" cy="411480"/>
          </a:xfrm>
          <a:prstGeom prst="rect">
            <a:avLst>
              <a:gd name="adj" fmla="val 22222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Google OAuth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Authentication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603236" y="3931920"/>
            <a:ext cx="2194560" cy="411480"/>
          </a:xfrm>
          <a:prstGeom prst="rect">
            <a:avLst>
              <a:gd name="adj" fmla="val 22222"/>
            </a:avLst>
          </a:prstGeom>
          <a:solidFill>
            <a:srgbClr val="FF751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Resend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Email Delivery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466344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E11D4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663440"/>
            <a:ext cx="3474720" cy="54864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9" name="Text 27"/>
          <p:cNvSpPr/>
          <p:nvPr/>
        </p:nvSpPr>
        <p:spPr>
          <a:xfrm>
            <a:off x="658368" y="475488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11D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Scaling Behavior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HTTP-based auto-scaling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Scale to zero: disabled in production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Replicas share PostgreSQL sessions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Stateless design — no sticky sessions needed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389120" y="466344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FF751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89120" y="4663440"/>
            <a:ext cx="3474720" cy="54864"/>
          </a:xfrm>
          <a:prstGeom prst="rect">
            <a:avLst/>
          </a:prstGeom>
          <a:solidFill>
            <a:srgbClr val="FF751F"/>
          </a:solidFill>
          <a:ln/>
        </p:spPr>
      </p:sp>
      <p:sp>
        <p:nvSpPr>
          <p:cNvPr id="32" name="Text 30"/>
          <p:cNvSpPr/>
          <p:nvPr/>
        </p:nvSpPr>
        <p:spPr>
          <a:xfrm>
            <a:off x="4498848" y="475488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75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&amp; Readiness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Liveness probe: GET /api/health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Readiness probe: GET /api/health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Startup probe: 30s initial delay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Graceful shutdown on SIGTERM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229600" y="466344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6B728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29600" y="4663440"/>
            <a:ext cx="3474720" cy="5486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35" name="Text 33"/>
          <p:cNvSpPr/>
          <p:nvPr/>
        </p:nvSpPr>
        <p:spPr>
          <a:xfrm>
            <a:off x="8339328" y="475488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Monitoring Queries (KQL)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ContainerAppConsoleLogs_CL for app logs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ContainerAppSystemLogs_CL for platform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Alert on 5xx error rate &gt; 1%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Alert on container restart count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5486400"/>
            <a:ext cx="5486400" cy="1225296"/>
          </a:xfrm>
          <a:prstGeom prst="rect">
            <a:avLst>
              <a:gd name="adj" fmla="val 4478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5486400"/>
            <a:ext cx="548640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38" name="Text 36"/>
          <p:cNvSpPr/>
          <p:nvPr/>
        </p:nvSpPr>
        <p:spPr>
          <a:xfrm>
            <a:off x="658368" y="5559552"/>
            <a:ext cx="526694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Container App Managed Identity (runtime)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AcrPull — Pull container images on restart/scale-out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Key Vault Secrets User — Read secrets at startup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Storage Blob Data Contributor — Read/write file uploads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PostgreSQL access via DATABASE_URL connection string (not RBAC)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400800" y="5486400"/>
            <a:ext cx="5212080" cy="1225296"/>
          </a:xfrm>
          <a:prstGeom prst="rect">
            <a:avLst>
              <a:gd name="adj" fmla="val 4478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00800" y="5486400"/>
            <a:ext cx="521208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1" name="Text 39"/>
          <p:cNvSpPr/>
          <p:nvPr/>
        </p:nvSpPr>
        <p:spPr>
          <a:xfrm>
            <a:off x="6510528" y="5559552"/>
            <a:ext cx="499262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Operations / SRE Team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Reader on Resource Group — View all resources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Log Analytics Reader — Query logs and dashboards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Container App Contributor — Restart, scale, update revisions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Monitoring Contributor — Create alerts and action groups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28600"/>
            <a:ext cx="1097280" cy="329184"/>
          </a:xfrm>
          <a:prstGeom prst="rect">
            <a:avLst>
              <a:gd name="adj" fmla="val 16667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645920" y="201168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Migration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11457432" cy="18288"/>
          </a:xfrm>
          <a:prstGeom prst="rect">
            <a:avLst/>
          </a:prstGeom>
          <a:solidFill>
            <a:srgbClr val="075DD1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FridayReport.AI — Azure Deployment Flow  |  Stage 6 of 13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8" name="Text 6"/>
          <p:cNvSpPr/>
          <p:nvPr/>
        </p:nvSpPr>
        <p:spPr>
          <a:xfrm>
            <a:off x="1010412" y="1280160"/>
            <a:ext cx="1828800" cy="502920"/>
          </a:xfrm>
          <a:prstGeom prst="rect">
            <a:avLst>
              <a:gd name="adj" fmla="val 18182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 Firewall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Allow migration runner IP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39212" y="1458468"/>
            <a:ext cx="256032" cy="146304"/>
          </a:xfrm>
          <a:prstGeom prst="rightArrow">
            <a:avLst/>
          </a:prstGeom>
          <a:solidFill>
            <a:srgbClr val="075DD1"/>
          </a:solidFill>
          <a:ln/>
        </p:spPr>
      </p:sp>
      <p:sp>
        <p:nvSpPr>
          <p:cNvPr id="10" name="Text 8"/>
          <p:cNvSpPr/>
          <p:nvPr/>
        </p:nvSpPr>
        <p:spPr>
          <a:xfrm>
            <a:off x="3095244" y="1280160"/>
            <a:ext cx="1828800" cy="502920"/>
          </a:xfrm>
          <a:prstGeom prst="rect">
            <a:avLst>
              <a:gd name="adj" fmla="val 18182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Set DATABASE_URL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Azure PostgreSQL conn string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924044" y="1458468"/>
            <a:ext cx="256032" cy="146304"/>
          </a:xfrm>
          <a:prstGeom prst="rightArrow">
            <a:avLst/>
          </a:prstGeom>
          <a:solidFill>
            <a:srgbClr val="075DD1"/>
          </a:solidFill>
          <a:ln/>
        </p:spPr>
      </p:sp>
      <p:sp>
        <p:nvSpPr>
          <p:cNvPr id="12" name="Text 10"/>
          <p:cNvSpPr/>
          <p:nvPr/>
        </p:nvSpPr>
        <p:spPr>
          <a:xfrm>
            <a:off x="5180076" y="1280160"/>
            <a:ext cx="1828800" cy="502920"/>
          </a:xfrm>
          <a:prstGeom prst="rect">
            <a:avLst>
              <a:gd name="adj" fmla="val 18182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Run Migrations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drizzle-kit push / migrate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008876" y="1458468"/>
            <a:ext cx="256032" cy="146304"/>
          </a:xfrm>
          <a:prstGeom prst="rightArrow">
            <a:avLst/>
          </a:prstGeom>
          <a:solidFill>
            <a:srgbClr val="075DD1"/>
          </a:solidFill>
          <a:ln/>
        </p:spPr>
      </p:sp>
      <p:sp>
        <p:nvSpPr>
          <p:cNvPr id="14" name="Text 12"/>
          <p:cNvSpPr/>
          <p:nvPr/>
        </p:nvSpPr>
        <p:spPr>
          <a:xfrm>
            <a:off x="7264908" y="1280160"/>
            <a:ext cx="1828800" cy="502920"/>
          </a:xfrm>
          <a:prstGeom prst="rect">
            <a:avLst>
              <a:gd name="adj" fmla="val 18182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Verify Schema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Check tables &amp; extensions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093708" y="1458468"/>
            <a:ext cx="256032" cy="146304"/>
          </a:xfrm>
          <a:prstGeom prst="rightArrow">
            <a:avLst/>
          </a:prstGeom>
          <a:solidFill>
            <a:srgbClr val="075DD1"/>
          </a:solidFill>
          <a:ln/>
        </p:spPr>
      </p:sp>
      <p:sp>
        <p:nvSpPr>
          <p:cNvPr id="16" name="Text 14"/>
          <p:cNvSpPr/>
          <p:nvPr/>
        </p:nvSpPr>
        <p:spPr>
          <a:xfrm>
            <a:off x="9349740" y="1280160"/>
            <a:ext cx="1828800" cy="502920"/>
          </a:xfrm>
          <a:prstGeom prst="rect">
            <a:avLst>
              <a:gd name="adj" fmla="val 18182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Lock Firewall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Remove temp IP rule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201168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database schema must be initialized on the Azure PostgreSQL server before the application can start. Drizzle ORM manages the schema via migration files.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2560320"/>
            <a:ext cx="3474720" cy="1389888"/>
          </a:xfrm>
          <a:prstGeom prst="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075D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2560320"/>
            <a:ext cx="3474720" cy="54864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651760"/>
            <a:ext cx="325526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Pre-Migration Setup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 postgres flexible-server firewall-rule create \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 --name allow-migration-runner \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 --start-ip-address &lt;your-ip&gt; --end-ip-address &lt;your-ip&gt;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Enable extension: CREATE EXTENSION IF NOT EXISTS unaccent;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Verify SSL mode: require (default for Azure PG)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89120" y="256032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075DD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89120" y="2560320"/>
            <a:ext cx="3474720" cy="54864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23" name="Text 21"/>
          <p:cNvSpPr/>
          <p:nvPr/>
        </p:nvSpPr>
        <p:spPr>
          <a:xfrm>
            <a:off x="4498848" y="265176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Migration Commands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export DATABASE_URL="postgresql://admin@server:5432/fridayreport?sslmode=require"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npx drizzle-kit push — Apply schema to database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npx drizzle-kit migrate — Run pending migration files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npm run db:seed — Seed initial data (if applicable)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29600" y="2560320"/>
            <a:ext cx="3474720" cy="1389888"/>
          </a:xfrm>
          <a:prstGeom prst="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0" y="2560320"/>
            <a:ext cx="347472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6" name="Text 24"/>
          <p:cNvSpPr/>
          <p:nvPr/>
        </p:nvSpPr>
        <p:spPr>
          <a:xfrm>
            <a:off x="8339328" y="2651760"/>
            <a:ext cx="325526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Post-Migration Verification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\dt — List all tables in psql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SELECT count(*) FROM information_schema.tables;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Verify session table: connect_pg_simple_sessions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Check extensions: SELECT * FROM pg_extension;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Remove temp firewall rule after migration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389120"/>
            <a:ext cx="5029200" cy="1225296"/>
          </a:xfrm>
          <a:prstGeom prst="rect">
            <a:avLst>
              <a:gd name="adj" fmla="val 4478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389120"/>
            <a:ext cx="502920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29" name="Text 27"/>
          <p:cNvSpPr/>
          <p:nvPr/>
        </p:nvSpPr>
        <p:spPr>
          <a:xfrm>
            <a:off x="658368" y="4462272"/>
            <a:ext cx="480974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Database Administrator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PostgreSQL server admin credentials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Firewall rule create/delete on Azure PG Flexible Server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CREATE EXTENSION privilege (for unaccent)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Network access from migration runner to Azure PG (port 5432)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943600" y="4389120"/>
            <a:ext cx="5669280" cy="1225296"/>
          </a:xfrm>
          <a:prstGeom prst="rect">
            <a:avLst>
              <a:gd name="adj" fmla="val 4478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4389120"/>
            <a:ext cx="566928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32" name="Text 30"/>
          <p:cNvSpPr/>
          <p:nvPr/>
        </p:nvSpPr>
        <p:spPr>
          <a:xfrm>
            <a:off x="6053328" y="4462272"/>
            <a:ext cx="544982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Application Service Account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PostgreSQL database owner or equivalent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CREATE TABLE, ALTER TABLE, INSERT, UPDATE, DELETE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CREATE INDEX for performance indexes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USAGE on public schema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28600"/>
            <a:ext cx="1097280" cy="329184"/>
          </a:xfrm>
          <a:prstGeom prst="rect">
            <a:avLst>
              <a:gd name="adj" fmla="val 16667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645920" y="201168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Environment Variables Reference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11457432" cy="18288"/>
          </a:xfrm>
          <a:prstGeom prst="rect">
            <a:avLst/>
          </a:prstGeom>
          <a:solidFill>
            <a:srgbClr val="7C3AED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FridayReport.AI — Azure Deployment Flow  |  Stage 7 of 13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91440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Complete list of all environment variables required for deployment. Variables marked with a lock icon are secrets and should be stored in Azure Key Vault.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371600"/>
            <a:ext cx="3474720" cy="1389888"/>
          </a:xfrm>
          <a:prstGeom prst="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1725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371600"/>
            <a:ext cx="3474720" cy="54864"/>
          </a:xfrm>
          <a:prstGeom prst="rect">
            <a:avLst/>
          </a:prstGeom>
          <a:solidFill>
            <a:srgbClr val="17255A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463040"/>
            <a:ext cx="325526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Infrastructure (Key Vault)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DATABASE_URL — PostgreSQL connection string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SESSION_SECRET — Express session signing key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PORT — Application port (default: 5000)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NODE_ENV — Environment (production)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APP_URL — Public application URL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89120" y="137160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89120" y="1371600"/>
            <a:ext cx="347472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498848" y="146304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Authentication — Google (Key Vault)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GOOGLE_CLIENT_ID — OAuth 2.0 client ID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GOOGLE_CLIENT_SECRET — OAuth 2.0 client secret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Redirect URI: {APP_URL}/auth/google/callback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Scopes: profile, email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1371600"/>
            <a:ext cx="3474720" cy="1389888"/>
          </a:xfrm>
          <a:prstGeom prst="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075DD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0" y="1371600"/>
            <a:ext cx="3474720" cy="54864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17" name="Text 15"/>
          <p:cNvSpPr/>
          <p:nvPr/>
        </p:nvSpPr>
        <p:spPr>
          <a:xfrm>
            <a:off x="8339328" y="1463040"/>
            <a:ext cx="325526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Authentication — Microsoft (Key Vault)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MICROSOFT_CLIENT_ID — Entra ID app client ID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MICROSOFT_CLIENT_SECRET — Entra ID client secret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MICROSOFT_TENANT_ID — Tenant ID (default: common)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Redirect URI: {APP_URL}/auth/microsoft/callback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Scopes: User.Read, Tasks.ReadWrite, etc.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91840"/>
            <a:ext cx="3474720" cy="987552"/>
          </a:xfrm>
          <a:prstGeom prst="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FF751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291840"/>
            <a:ext cx="3474720" cy="54864"/>
          </a:xfrm>
          <a:prstGeom prst="rect">
            <a:avLst/>
          </a:prstGeom>
          <a:solidFill>
            <a:srgbClr val="FF751F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383280"/>
            <a:ext cx="3255264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75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Service (Key Vault)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RESEND_API_KEY — Resend email service API key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RESEND_FROM_EMAIL — Sender address (e.g. noreply@fridayreport.ai)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Used for: welcome emails, password resets, report delivery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89120" y="329184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89120" y="3291840"/>
            <a:ext cx="347472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3" name="Text 21"/>
          <p:cNvSpPr/>
          <p:nvPr/>
        </p:nvSpPr>
        <p:spPr>
          <a:xfrm>
            <a:off x="4498848" y="338328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Blob Storage (Plain Env Vars)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AZURE_STORAGE_ACCOUNT_NAME — Storage account name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AZURE_STORAGE_CONTAINER_NAME — Blob container (uploads)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Auth: Managed Identity (no key needed)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Used for: file uploads, avatars, documents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29600" y="3291840"/>
            <a:ext cx="3474720" cy="1389888"/>
          </a:xfrm>
          <a:prstGeom prst="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6B72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0" y="3291840"/>
            <a:ext cx="3474720" cy="5486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26" name="Text 24"/>
          <p:cNvSpPr/>
          <p:nvPr/>
        </p:nvSpPr>
        <p:spPr>
          <a:xfrm>
            <a:off x="8339328" y="3383280"/>
            <a:ext cx="325526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Container App Plain Env Vars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NODE_ENV=production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PORT=5000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APP_URL=https://app.fridayreport.ai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AZURE_STORAGE_ACCOUNT_NAME=fridayreportstorage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AZURE_STORAGE_CONTAINER_NAME=uploads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5120640"/>
            <a:ext cx="11091672" cy="457200"/>
          </a:xfrm>
          <a:prstGeom prst="rect">
            <a:avLst>
              <a:gd name="adj" fmla="val 12000"/>
            </a:avLst>
          </a:prstGeom>
          <a:solidFill>
            <a:srgbClr val="FAF5FF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516636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Vault vs Plain Env Vars: </a:t>
            </a:r>
            <a:pPr indent="0" marL="0">
              <a:buNone/>
            </a:pPr>
            <a:r>
              <a:rPr lang="en-US" sz="10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Secrets (DATABASE_URL, SESSION_SECRET, OAuth client IDs/secrets, RESEND_API_KEY) go in Key Vault and are referenced via </a:t>
            </a:r>
            <a:pPr indent="0" marL="0">
              <a:buNone/>
            </a:pPr>
            <a:r>
              <a:rPr lang="en-US" sz="10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secretref:</a:t>
            </a:r>
            <a:pPr indent="0" marL="0">
              <a:buNone/>
            </a:pPr>
            <a:r>
              <a:rPr lang="en-US" sz="10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--env-vars. Non-sensitive values (PORT, NODE_ENV, APP_URL, storage names) are set as plain environment variables.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7255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28600"/>
            <a:ext cx="1097280" cy="329184"/>
          </a:xfrm>
          <a:prstGeom prst="rect">
            <a:avLst>
              <a:gd name="adj" fmla="val 16667"/>
            </a:avLst>
          </a:prstGeom>
          <a:solidFill>
            <a:srgbClr val="1725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645920" y="201168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Networking &amp; Security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11457432" cy="18288"/>
          </a:xfrm>
          <a:prstGeom prst="rect">
            <a:avLst/>
          </a:prstGeom>
          <a:solidFill>
            <a:srgbClr val="17255A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FridayReport.AI — Azure Deployment Flow  |  Stage 8 of 13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7255A"/>
          </a:solidFill>
          <a:ln/>
        </p:spPr>
      </p:sp>
      <p:sp>
        <p:nvSpPr>
          <p:cNvPr id="8" name="Text 6"/>
          <p:cNvSpPr/>
          <p:nvPr/>
        </p:nvSpPr>
        <p:spPr>
          <a:xfrm>
            <a:off x="1225296" y="1280160"/>
            <a:ext cx="2194560" cy="502920"/>
          </a:xfrm>
          <a:prstGeom prst="rect">
            <a:avLst>
              <a:gd name="adj" fmla="val 18182"/>
            </a:avLst>
          </a:prstGeom>
          <a:solidFill>
            <a:srgbClr val="1725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Virtual Network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fridayreport-vnet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19856" y="1458468"/>
            <a:ext cx="320040" cy="146304"/>
          </a:xfrm>
          <a:prstGeom prst="rightArrow">
            <a:avLst/>
          </a:prstGeom>
          <a:solidFill>
            <a:srgbClr val="17255A"/>
          </a:solidFill>
          <a:ln/>
        </p:spPr>
      </p:sp>
      <p:sp>
        <p:nvSpPr>
          <p:cNvPr id="10" name="Text 8"/>
          <p:cNvSpPr/>
          <p:nvPr/>
        </p:nvSpPr>
        <p:spPr>
          <a:xfrm>
            <a:off x="3739896" y="1280160"/>
            <a:ext cx="2194560" cy="502920"/>
          </a:xfrm>
          <a:prstGeom prst="rect">
            <a:avLst>
              <a:gd name="adj" fmla="val 18182"/>
            </a:avLst>
          </a:prstGeom>
          <a:solidFill>
            <a:srgbClr val="FF751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Container Subnet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container-app-subnet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34456" y="1458468"/>
            <a:ext cx="320040" cy="146304"/>
          </a:xfrm>
          <a:prstGeom prst="rightArrow">
            <a:avLst/>
          </a:prstGeom>
          <a:solidFill>
            <a:srgbClr val="17255A"/>
          </a:solidFill>
          <a:ln/>
        </p:spPr>
      </p:sp>
      <p:sp>
        <p:nvSpPr>
          <p:cNvPr id="12" name="Text 10"/>
          <p:cNvSpPr/>
          <p:nvPr/>
        </p:nvSpPr>
        <p:spPr>
          <a:xfrm>
            <a:off x="6254496" y="1280160"/>
            <a:ext cx="2194560" cy="502920"/>
          </a:xfrm>
          <a:prstGeom prst="rect">
            <a:avLst>
              <a:gd name="adj" fmla="val 18182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Database Subnet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postgres-subnet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449056" y="1458468"/>
            <a:ext cx="320040" cy="146304"/>
          </a:xfrm>
          <a:prstGeom prst="rightArrow">
            <a:avLst/>
          </a:prstGeom>
          <a:solidFill>
            <a:srgbClr val="17255A"/>
          </a:solidFill>
          <a:ln/>
        </p:spPr>
      </p:sp>
      <p:sp>
        <p:nvSpPr>
          <p:cNvPr id="14" name="Text 12"/>
          <p:cNvSpPr/>
          <p:nvPr/>
        </p:nvSpPr>
        <p:spPr>
          <a:xfrm>
            <a:off x="8769096" y="1280160"/>
            <a:ext cx="2194560" cy="502920"/>
          </a:xfrm>
          <a:prstGeom prst="rect">
            <a:avLst>
              <a:gd name="adj" fmla="val 18182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Private Endpoints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PG + Key Vault + Blob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201168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backend services communicate over private networks. Public access is limited to the Container App ingress endpoint with HTTPS/TLS.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2560320"/>
            <a:ext cx="3474720" cy="1389888"/>
          </a:xfrm>
          <a:prstGeom prst="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17255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560320"/>
            <a:ext cx="3474720" cy="54864"/>
          </a:xfrm>
          <a:prstGeom prst="rect">
            <a:avLst/>
          </a:prstGeom>
          <a:solidFill>
            <a:srgbClr val="17255A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651760"/>
            <a:ext cx="325526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VNet Configuration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Address space: 10.0.0.0/16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Container App subnet: 10.0.0.0/23 (min /23 required)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PostgreSQL subnet: 10.0.1.0/24 (delegated)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Private endpoint subnet: 10.0.2.0/24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DNS: Azure Private DNS zones for internal resolution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89120" y="2560320"/>
            <a:ext cx="3474720" cy="1591056"/>
          </a:xfrm>
          <a:prstGeom prst="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075DD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89120" y="2560320"/>
            <a:ext cx="3474720" cy="54864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21" name="Text 19"/>
          <p:cNvSpPr/>
          <p:nvPr/>
        </p:nvSpPr>
        <p:spPr>
          <a:xfrm>
            <a:off x="4498848" y="2651760"/>
            <a:ext cx="3255264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Firewall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Public network access: Disabled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Allow Azure services: Enabled (for Container App)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VNet integration: postgres-subnet (delegated)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Private DNS zone: privatelink.postgres.database.azure.com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SSL enforcement: Enabled (sslmode=require)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Temp rule for migration: remove after schema setup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229600" y="2560320"/>
            <a:ext cx="3474720" cy="1389888"/>
          </a:xfrm>
          <a:prstGeom prst="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0" y="2560320"/>
            <a:ext cx="347472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/>
          <p:nvPr/>
        </p:nvSpPr>
        <p:spPr>
          <a:xfrm>
            <a:off x="8339328" y="2651760"/>
            <a:ext cx="325526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Vault &amp; Blob Security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Key Vault: Private endpoint + Azure RBAC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Key Vault: Disable vault access policies, use RBAC only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Blob Storage: Private endpoint for data access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Blob Storage: Managed Identity auth (no access keys)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Both: Deny public network access in production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389120"/>
            <a:ext cx="3474720" cy="1591056"/>
          </a:xfrm>
          <a:prstGeom prst="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FF751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389120"/>
            <a:ext cx="3474720" cy="54864"/>
          </a:xfrm>
          <a:prstGeom prst="rect">
            <a:avLst/>
          </a:prstGeom>
          <a:solidFill>
            <a:srgbClr val="FF751F"/>
          </a:solidFill>
          <a:ln/>
        </p:spPr>
      </p:sp>
      <p:sp>
        <p:nvSpPr>
          <p:cNvPr id="27" name="Text 25"/>
          <p:cNvSpPr/>
          <p:nvPr/>
        </p:nvSpPr>
        <p:spPr>
          <a:xfrm>
            <a:off x="658368" y="4480560"/>
            <a:ext cx="3255264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75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Ingress, TLS &amp; NSG Rules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External ingress: HTTPS only (port 443)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Internal port: 5000 (Container App target)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NSG: Allow 443 inbound, deny all other inbound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NSG: Allow outbound to PG (5432), KV (443), Blob (443)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Managed TLS certificate (auto-renewed)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CSP headers: Allow Microsoft Teams iframe embedding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389120" y="4389120"/>
            <a:ext cx="3474720" cy="1225296"/>
          </a:xfrm>
          <a:prstGeom prst="rect">
            <a:avLst>
              <a:gd name="adj" fmla="val 4478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120" y="4389120"/>
            <a:ext cx="347472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30" name="Text 28"/>
          <p:cNvSpPr/>
          <p:nvPr/>
        </p:nvSpPr>
        <p:spPr>
          <a:xfrm>
            <a:off x="4498848" y="4462272"/>
            <a:ext cx="325526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Network Administrator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Network Contributor on Resource Group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Private DNS Zone Contributor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Microsoft.Network/virtualNetworks/* — Create VNet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Microsoft.Network/privateEndpoints/* — Create PE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229600" y="4389120"/>
            <a:ext cx="3474720" cy="1225296"/>
          </a:xfrm>
          <a:prstGeom prst="rect">
            <a:avLst>
              <a:gd name="adj" fmla="val 4478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29600" y="4389120"/>
            <a:ext cx="347472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33" name="Text 31"/>
          <p:cNvSpPr/>
          <p:nvPr/>
        </p:nvSpPr>
        <p:spPr>
          <a:xfrm>
            <a:off x="8339328" y="4462272"/>
            <a:ext cx="325526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Security Reviewer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Security Reader on subscription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Review NSG flow logs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Validate private endpoint DNS resolution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Audit Key Vault access logs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28600"/>
            <a:ext cx="1097280" cy="329184"/>
          </a:xfrm>
          <a:prstGeom prst="rect">
            <a:avLst>
              <a:gd name="adj" fmla="val 16667"/>
            </a:avLst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645920" y="201168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Storage Migration (Pre-requisite)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11457432" cy="18288"/>
          </a:xfrm>
          <a:prstGeom prst="rect">
            <a:avLst/>
          </a:prstGeom>
          <a:solidFill>
            <a:srgbClr val="0891B2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FridayReport.AI — Azure Deployment Flow  |  Stage 9 of 13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6"/>
          <p:cNvSpPr/>
          <p:nvPr/>
        </p:nvSpPr>
        <p:spPr>
          <a:xfrm>
            <a:off x="1010412" y="1280160"/>
            <a:ext cx="1828800" cy="502920"/>
          </a:xfrm>
          <a:prstGeom prst="rect">
            <a:avLst>
              <a:gd name="adj" fmla="val 18182"/>
            </a:avLst>
          </a:prstGeom>
          <a:solidFill>
            <a:srgbClr val="6B728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Current State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Platform Object Storage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39212" y="1458468"/>
            <a:ext cx="256032" cy="146304"/>
          </a:xfrm>
          <a:prstGeom prst="rightArrow">
            <a:avLst/>
          </a:prstGeom>
          <a:solidFill>
            <a:srgbClr val="0891B2"/>
          </a:solidFill>
          <a:ln/>
        </p:spPr>
      </p:sp>
      <p:sp>
        <p:nvSpPr>
          <p:cNvPr id="10" name="Text 8"/>
          <p:cNvSpPr/>
          <p:nvPr/>
        </p:nvSpPr>
        <p:spPr>
          <a:xfrm>
            <a:off x="3095244" y="1280160"/>
            <a:ext cx="1828800" cy="502920"/>
          </a:xfrm>
          <a:prstGeom prst="rect">
            <a:avLst>
              <a:gd name="adj" fmla="val 18182"/>
            </a:avLst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Code Change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Replace with @azure/storage-blob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924044" y="1458468"/>
            <a:ext cx="256032" cy="146304"/>
          </a:xfrm>
          <a:prstGeom prst="rightArrow">
            <a:avLst/>
          </a:prstGeom>
          <a:solidFill>
            <a:srgbClr val="0891B2"/>
          </a:solidFill>
          <a:ln/>
        </p:spPr>
      </p:sp>
      <p:sp>
        <p:nvSpPr>
          <p:cNvPr id="12" name="Text 10"/>
          <p:cNvSpPr/>
          <p:nvPr/>
        </p:nvSpPr>
        <p:spPr>
          <a:xfrm>
            <a:off x="5180076" y="1280160"/>
            <a:ext cx="1828800" cy="502920"/>
          </a:xfrm>
          <a:prstGeom prst="rect">
            <a:avLst>
              <a:gd name="adj" fmla="val 18182"/>
            </a:avLst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Create Container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Azure Blob uploads container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008876" y="1458468"/>
            <a:ext cx="256032" cy="146304"/>
          </a:xfrm>
          <a:prstGeom prst="rightArrow">
            <a:avLst/>
          </a:prstGeom>
          <a:solidFill>
            <a:srgbClr val="0891B2"/>
          </a:solidFill>
          <a:ln/>
        </p:spPr>
      </p:sp>
      <p:sp>
        <p:nvSpPr>
          <p:cNvPr id="14" name="Text 12"/>
          <p:cNvSpPr/>
          <p:nvPr/>
        </p:nvSpPr>
        <p:spPr>
          <a:xfrm>
            <a:off x="7264908" y="1280160"/>
            <a:ext cx="1828800" cy="502920"/>
          </a:xfrm>
          <a:prstGeom prst="rect">
            <a:avLst>
              <a:gd name="adj" fmla="val 18182"/>
            </a:avLst>
          </a:prstGeom>
          <a:solidFill>
            <a:srgbClr val="FF751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Migrate Files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Export → Upload to Blob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093708" y="1458468"/>
            <a:ext cx="256032" cy="146304"/>
          </a:xfrm>
          <a:prstGeom prst="rightArrow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9349740" y="1280160"/>
            <a:ext cx="1828800" cy="502920"/>
          </a:xfrm>
          <a:prstGeom prst="rect">
            <a:avLst>
              <a:gd name="adj" fmla="val 18182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Verify &amp; Deploy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Test uploads in staging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201168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1D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application currently uses a platform-specific object storage integration that is NOT compatible with Azure. This code change is required before deployment.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2560320"/>
            <a:ext cx="3474720" cy="1389888"/>
          </a:xfrm>
          <a:prstGeom prst="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2560320"/>
            <a:ext cx="347472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651760"/>
            <a:ext cx="325526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Affected Code Areas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File upload handlers (multer → Blob Storage)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Avatar / logo image storage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Document attachments (.mpp, .xlsx, .pdf)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Report exports and generated files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Storage module is isolated — contained change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89120" y="2560320"/>
            <a:ext cx="3474720" cy="1389888"/>
          </a:xfrm>
          <a:prstGeom prst="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89120" y="2560320"/>
            <a:ext cx="347472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3" name="Text 21"/>
          <p:cNvSpPr/>
          <p:nvPr/>
        </p:nvSpPr>
        <p:spPr>
          <a:xfrm>
            <a:off x="4498848" y="2651760"/>
            <a:ext cx="325526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Change Summary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Install: npm install @azure/storage-blob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Replace object storage calls with BlobServiceClient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 DefaultAzureCredential (Managed Identity)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 access keys or connection strings needed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Estimated effort: 1-2 days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29600" y="2560320"/>
            <a:ext cx="3474720" cy="1389888"/>
          </a:xfrm>
          <a:prstGeom prst="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FF751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0" y="2560320"/>
            <a:ext cx="3474720" cy="54864"/>
          </a:xfrm>
          <a:prstGeom prst="rect">
            <a:avLst/>
          </a:prstGeom>
          <a:solidFill>
            <a:srgbClr val="FF751F"/>
          </a:solidFill>
          <a:ln/>
        </p:spPr>
      </p:sp>
      <p:sp>
        <p:nvSpPr>
          <p:cNvPr id="26" name="Text 24"/>
          <p:cNvSpPr/>
          <p:nvPr/>
        </p:nvSpPr>
        <p:spPr>
          <a:xfrm>
            <a:off x="8339328" y="2651760"/>
            <a:ext cx="325526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75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Migration Steps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1. Export all files from current storage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2. Create Azure Blob container: uploads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3. Upload files via az storage blob upload-batch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4. Verify file counts and sizes match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5. Update any stored URLs in database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389120"/>
            <a:ext cx="5029200" cy="1225296"/>
          </a:xfrm>
          <a:prstGeom prst="rect">
            <a:avLst>
              <a:gd name="adj" fmla="val 4478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389120"/>
            <a:ext cx="502920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29" name="Text 27"/>
          <p:cNvSpPr/>
          <p:nvPr/>
        </p:nvSpPr>
        <p:spPr>
          <a:xfrm>
            <a:off x="658368" y="4462272"/>
            <a:ext cx="480974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Developer (code change)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Access to source code repository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npm install permissions for @azure/storage-blob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Staging environment for testing uploads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Test with Azure Storage Emulator (Azurite) locally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943600" y="4389120"/>
            <a:ext cx="5669280" cy="1225296"/>
          </a:xfrm>
          <a:prstGeom prst="rect">
            <a:avLst>
              <a:gd name="adj" fmla="val 4478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4389120"/>
            <a:ext cx="566928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32" name="Text 30"/>
          <p:cNvSpPr/>
          <p:nvPr/>
        </p:nvSpPr>
        <p:spPr>
          <a:xfrm>
            <a:off x="6053328" y="4462272"/>
            <a:ext cx="544982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Storage Admin (data migration)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Storage Blob Data Contributor on storage account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 storage blob upload-batch permissions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Access to current platform storage (export files)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Verify blob container access policies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28600"/>
            <a:ext cx="1097280" cy="329184"/>
          </a:xfrm>
          <a:prstGeom prst="rect">
            <a:avLst>
              <a:gd name="adj" fmla="val 16667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645920" y="201168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 Pipeline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11457432" cy="18288"/>
          </a:xfrm>
          <a:prstGeom prst="rect">
            <a:avLst/>
          </a:prstGeom>
          <a:solidFill>
            <a:srgbClr val="10B981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FridayReport.AI — Azure Deployment Flow  |  Stage 10 of 13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1110996" y="1280160"/>
            <a:ext cx="1508760" cy="502920"/>
          </a:xfrm>
          <a:prstGeom prst="rect">
            <a:avLst>
              <a:gd name="adj" fmla="val 18182"/>
            </a:avLst>
          </a:prstGeom>
          <a:solidFill>
            <a:srgbClr val="1725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Code Push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main branch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619756" y="1458468"/>
            <a:ext cx="182880" cy="146304"/>
          </a:xfrm>
          <a:prstGeom prst="rightArrow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2802636" y="1280160"/>
            <a:ext cx="1508760" cy="502920"/>
          </a:xfrm>
          <a:prstGeom prst="rect">
            <a:avLst>
              <a:gd name="adj" fmla="val 18182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Install &amp; Build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npm ci &amp;&amp; npm run build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11396" y="1458468"/>
            <a:ext cx="182880" cy="146304"/>
          </a:xfrm>
          <a:prstGeom prst="rightArrow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494276" y="1280160"/>
            <a:ext cx="1508760" cy="502920"/>
          </a:xfrm>
          <a:prstGeom prst="rect">
            <a:avLst>
              <a:gd name="adj" fmla="val 18182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Run Tests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npm test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03036" y="1458468"/>
            <a:ext cx="182880" cy="146304"/>
          </a:xfrm>
          <a:prstGeom prst="rightArrow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6185916" y="1280160"/>
            <a:ext cx="1508760" cy="502920"/>
          </a:xfrm>
          <a:prstGeom prst="rect">
            <a:avLst>
              <a:gd name="adj" fmla="val 18182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Docker Build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Build &amp; tag image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94676" y="1458468"/>
            <a:ext cx="182880" cy="146304"/>
          </a:xfrm>
          <a:prstGeom prst="rightArrow">
            <a:avLst/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7877556" y="1280160"/>
            <a:ext cx="1508760" cy="502920"/>
          </a:xfrm>
          <a:prstGeom prst="rect">
            <a:avLst>
              <a:gd name="adj" fmla="val 18182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Push to ACR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az acr login + push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386316" y="1458468"/>
            <a:ext cx="182880" cy="146304"/>
          </a:xfrm>
          <a:prstGeom prst="rightArrow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9569196" y="1280160"/>
            <a:ext cx="1508760" cy="502920"/>
          </a:xfrm>
          <a:prstGeom prst="rect">
            <a:avLst>
              <a:gd name="adj" fmla="val 18182"/>
            </a:avLst>
          </a:prstGeom>
          <a:solidFill>
            <a:srgbClr val="FF751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Deploy Revision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az containerapp update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201168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pipeline triggered on push to main. Builds the app, runs tests, creates a Docker image, pushes to ACR, and deploys a new Container App revision.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2560320"/>
            <a:ext cx="3474720" cy="1389888"/>
          </a:xfrm>
          <a:prstGeom prst="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2560320"/>
            <a:ext cx="347472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" y="2651760"/>
            <a:ext cx="325526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 Workflow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Trigger: push to main branch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Runner: ubuntu-latest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Steps: checkout → setup-node → npm ci → build → test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Docker: build, tag with git SHA + latest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Deploy: az containerapp update --image &lt;tag&gt;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89120" y="2560320"/>
            <a:ext cx="3474720" cy="1389888"/>
          </a:xfrm>
          <a:prstGeom prst="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89120" y="2560320"/>
            <a:ext cx="347472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5" name="Text 23"/>
          <p:cNvSpPr/>
          <p:nvPr/>
        </p:nvSpPr>
        <p:spPr>
          <a:xfrm>
            <a:off x="4498848" y="2651760"/>
            <a:ext cx="325526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 Secrets (GitHub)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AZURE_CLIENT_ID — Service principal app ID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AZURE_CLIENT_SECRET — Service principal secret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AZURE_TENANT_ID — Azure tenant ID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AZURE_SUBSCRIPTION_ID — Target subscription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ACR_LOGIN_SERVER — fridayreportacr.azurecr.io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229600" y="2560320"/>
            <a:ext cx="3474720" cy="1389888"/>
          </a:xfrm>
          <a:prstGeom prst="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075DD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0" y="2560320"/>
            <a:ext cx="3474720" cy="54864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28" name="Text 26"/>
          <p:cNvSpPr/>
          <p:nvPr/>
        </p:nvSpPr>
        <p:spPr>
          <a:xfrm>
            <a:off x="8339328" y="2651760"/>
            <a:ext cx="325526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DevOps Alternative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Pipeline: azure-pipelines.yml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Service Connection: Azure Resource Manager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ACR Task: Docker@2 with buildAndPush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Deploy Task: AzureContainerApps@1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Variable Groups for secrets management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389120"/>
            <a:ext cx="3474720" cy="1591056"/>
          </a:xfrm>
          <a:prstGeom prst="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FF751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389120"/>
            <a:ext cx="3474720" cy="54864"/>
          </a:xfrm>
          <a:prstGeom prst="rect">
            <a:avLst/>
          </a:prstGeom>
          <a:solidFill>
            <a:srgbClr val="FF751F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" y="4480560"/>
            <a:ext cx="3255264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75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Commands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 login --service-principal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 acr login --name fridayreportacr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docker build -t fridayreportacr.azurecr.io/fridayreport:$SHA .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docker push fridayreportacr.azurecr.io/fridayreport:$SHA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 containerapp update --name fridayreport-app \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 --image fridayreportacr.azurecr.io/fridayreport:$SHA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389120" y="4389120"/>
            <a:ext cx="3474720" cy="1225296"/>
          </a:xfrm>
          <a:prstGeom prst="rect">
            <a:avLst>
              <a:gd name="adj" fmla="val 4478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89120" y="4389120"/>
            <a:ext cx="347472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34" name="Text 32"/>
          <p:cNvSpPr/>
          <p:nvPr/>
        </p:nvSpPr>
        <p:spPr>
          <a:xfrm>
            <a:off x="4498848" y="4462272"/>
            <a:ext cx="325526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CI Service Principal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AcrPush on Container Registry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Contributor on Container App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Reader on Resource Group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Federated credential (OIDC) recommended over secrets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229600" y="4389120"/>
            <a:ext cx="3474720" cy="1225296"/>
          </a:xfrm>
          <a:prstGeom prst="rect">
            <a:avLst>
              <a:gd name="adj" fmla="val 4478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29600" y="4389120"/>
            <a:ext cx="347472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37" name="Text 35"/>
          <p:cNvSpPr/>
          <p:nvPr/>
        </p:nvSpPr>
        <p:spPr>
          <a:xfrm>
            <a:off x="8339328" y="4462272"/>
            <a:ext cx="325526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Pipeline Admin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GitHub repo admin (manage secrets)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Azure AD: Create app registrations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Create federated credentials for OIDC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Assign roles to CI service principal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751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28600"/>
            <a:ext cx="1097280" cy="329184"/>
          </a:xfrm>
          <a:prstGeom prst="rect">
            <a:avLst>
              <a:gd name="adj" fmla="val 16667"/>
            </a:avLst>
          </a:prstGeom>
          <a:solidFill>
            <a:srgbClr val="FF751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645920" y="201168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Rollback &amp; Update Strategy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11457432" cy="18288"/>
          </a:xfrm>
          <a:prstGeom prst="rect">
            <a:avLst/>
          </a:prstGeom>
          <a:solidFill>
            <a:srgbClr val="FF751F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FridayReport.AI — Azure Deployment Flow  |  Stage 11 of 13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751F"/>
          </a:solidFill>
          <a:ln/>
        </p:spPr>
      </p:sp>
      <p:sp>
        <p:nvSpPr>
          <p:cNvPr id="8" name="Text 6"/>
          <p:cNvSpPr/>
          <p:nvPr/>
        </p:nvSpPr>
        <p:spPr>
          <a:xfrm>
            <a:off x="1156716" y="1280160"/>
            <a:ext cx="2194560" cy="502920"/>
          </a:xfrm>
          <a:prstGeom prst="rect">
            <a:avLst>
              <a:gd name="adj" fmla="val 18182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New Image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Build &amp; push new tag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51276" y="1458468"/>
            <a:ext cx="365760" cy="146304"/>
          </a:xfrm>
          <a:prstGeom prst="rightArrow">
            <a:avLst/>
          </a:prstGeom>
          <a:solidFill>
            <a:srgbClr val="FF751F"/>
          </a:solidFill>
          <a:ln/>
        </p:spPr>
      </p:sp>
      <p:sp>
        <p:nvSpPr>
          <p:cNvPr id="10" name="Text 8"/>
          <p:cNvSpPr/>
          <p:nvPr/>
        </p:nvSpPr>
        <p:spPr>
          <a:xfrm>
            <a:off x="3717036" y="1280160"/>
            <a:ext cx="2194560" cy="502920"/>
          </a:xfrm>
          <a:prstGeom prst="rect">
            <a:avLst>
              <a:gd name="adj" fmla="val 18182"/>
            </a:avLst>
          </a:prstGeom>
          <a:solidFill>
            <a:srgbClr val="FF751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New Revision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az containerapp update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11596" y="1458468"/>
            <a:ext cx="365760" cy="146304"/>
          </a:xfrm>
          <a:prstGeom prst="rightArrow">
            <a:avLst/>
          </a:prstGeom>
          <a:solidFill>
            <a:srgbClr val="FF751F"/>
          </a:solidFill>
          <a:ln/>
        </p:spPr>
      </p:sp>
      <p:sp>
        <p:nvSpPr>
          <p:cNvPr id="12" name="Text 10"/>
          <p:cNvSpPr/>
          <p:nvPr/>
        </p:nvSpPr>
        <p:spPr>
          <a:xfrm>
            <a:off x="6277356" y="1280160"/>
            <a:ext cx="2194560" cy="502920"/>
          </a:xfrm>
          <a:prstGeom prst="rect">
            <a:avLst>
              <a:gd name="adj" fmla="val 18182"/>
            </a:avLst>
          </a:prstGeom>
          <a:solidFill>
            <a:srgbClr val="075DD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Traffic Split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Canary: 10% → 50% → 100%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471916" y="1458468"/>
            <a:ext cx="365760" cy="146304"/>
          </a:xfrm>
          <a:prstGeom prst="rightArrow">
            <a:avLst/>
          </a:prstGeom>
          <a:solidFill>
            <a:srgbClr val="FF751F"/>
          </a:solidFill>
          <a:ln/>
        </p:spPr>
      </p:sp>
      <p:sp>
        <p:nvSpPr>
          <p:cNvPr id="14" name="Text 12"/>
          <p:cNvSpPr/>
          <p:nvPr/>
        </p:nvSpPr>
        <p:spPr>
          <a:xfrm>
            <a:off x="8837676" y="1280160"/>
            <a:ext cx="2194560" cy="502920"/>
          </a:xfrm>
          <a:prstGeom prst="rect">
            <a:avLst>
              <a:gd name="adj" fmla="val 18182"/>
            </a:avLst>
          </a:prstGeom>
          <a:solidFill>
            <a:srgbClr val="6B728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Monitor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Check logs &amp; health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201168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Container Apps supports multiple active revisions with traffic splitting, enabling blue-green deployments and instant rollback.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2560320"/>
            <a:ext cx="3474720" cy="1389888"/>
          </a:xfrm>
          <a:prstGeom prst="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FF751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560320"/>
            <a:ext cx="3474720" cy="54864"/>
          </a:xfrm>
          <a:prstGeom prst="rect">
            <a:avLst/>
          </a:prstGeom>
          <a:solidFill>
            <a:srgbClr val="FF751F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651760"/>
            <a:ext cx="325526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75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Update Process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1. Build and push new image with version tag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2. az containerapp update --image &lt;new-tag&gt;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3. New revision created automatically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4. Traffic shifts to new revision (single mode)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5. Old revision deactivated after successful deploy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89120" y="2560320"/>
            <a:ext cx="3474720" cy="1389888"/>
          </a:xfrm>
          <a:prstGeom prst="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075DD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89120" y="2560320"/>
            <a:ext cx="3474720" cy="54864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21" name="Text 19"/>
          <p:cNvSpPr/>
          <p:nvPr/>
        </p:nvSpPr>
        <p:spPr>
          <a:xfrm>
            <a:off x="4498848" y="2651760"/>
            <a:ext cx="325526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Blue-Green / Canary Deploy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Enable multiple revision mode: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 containerapp revision set-mode --mode multiple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Split traffic: --traffic latest=10 previous=90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Gradually increase: 10% → 50% → 100%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Monitor error rates between each shift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229600" y="2560320"/>
            <a:ext cx="3474720" cy="1591056"/>
          </a:xfrm>
          <a:prstGeom prst="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E11D4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0" y="2560320"/>
            <a:ext cx="3474720" cy="54864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4" name="Text 22"/>
          <p:cNvSpPr/>
          <p:nvPr/>
        </p:nvSpPr>
        <p:spPr>
          <a:xfrm>
            <a:off x="8339328" y="2651760"/>
            <a:ext cx="3255264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11D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Rollback Commands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List revisions: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 containerapp revision list --name fridayreport-app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Activate old revision: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 containerapp revision activate --revision &lt;name&gt;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Shift traffic: --traffic &lt;old-rev&gt;=100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Instant rollback — no rebuild required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389120"/>
            <a:ext cx="502920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389120"/>
            <a:ext cx="502920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7" name="Text 25"/>
          <p:cNvSpPr/>
          <p:nvPr/>
        </p:nvSpPr>
        <p:spPr>
          <a:xfrm>
            <a:off x="658368" y="4480560"/>
            <a:ext cx="480974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Migration Considerations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Forward-only migrations: Always add columns, never remove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Two-phase migration: 1) Add new column 2) Deploy new code 3) Remove old column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Test rollback compatibility: new code must work with old schema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Backup database before destructive schema changes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943600" y="4389120"/>
            <a:ext cx="5669280" cy="1225296"/>
          </a:xfrm>
          <a:prstGeom prst="rect">
            <a:avLst>
              <a:gd name="adj" fmla="val 4478"/>
            </a:avLst>
          </a:prstGeom>
          <a:solidFill>
            <a:srgbClr val="FAF5FF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4389120"/>
            <a:ext cx="5669280" cy="54864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30" name="Text 28"/>
          <p:cNvSpPr/>
          <p:nvPr/>
        </p:nvSpPr>
        <p:spPr>
          <a:xfrm>
            <a:off x="6053328" y="4462272"/>
            <a:ext cx="544982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33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PERMISSIONS REQUIRED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Release Manager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Container App Contributor — Update revisions and traffic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 containerapp revision list/activate/deactivate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 containerapp ingress traffic set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Log Analytics Reader — Monitor rollback health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28600"/>
            <a:ext cx="1097280" cy="329184"/>
          </a:xfrm>
          <a:prstGeom prst="rect">
            <a:avLst>
              <a:gd name="adj" fmla="val 16667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645920" y="201168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Pre-Deployment Checklist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11457432" cy="18288"/>
          </a:xfrm>
          <a:prstGeom prst="rect">
            <a:avLst/>
          </a:prstGeom>
          <a:solidFill>
            <a:srgbClr val="10B981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FridayReport.AI — Azure Deployment Flow  |  Stage 12 of 13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91440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Complete all items before go-live. Each section has verification commands to confirm readiness.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371600"/>
            <a:ext cx="3474720" cy="1993392"/>
          </a:xfrm>
          <a:prstGeom prst="rect">
            <a:avLst>
              <a:gd name="adj" fmla="val 2752"/>
            </a:avLst>
          </a:prstGeom>
          <a:solidFill>
            <a:srgbClr val="FFFFFF"/>
          </a:solidFill>
          <a:ln w="19050">
            <a:solidFill>
              <a:srgbClr val="1725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371600"/>
            <a:ext cx="3474720" cy="54864"/>
          </a:xfrm>
          <a:prstGeom prst="rect">
            <a:avLst/>
          </a:prstGeom>
          <a:solidFill>
            <a:srgbClr val="17255A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463040"/>
            <a:ext cx="3255264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Infrastructure Ready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Resource Group created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PostgreSQL Flexible Server running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Azure Blob Storage account + uploads container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Key Vault created with RBAC enabled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Log Analytics workspace provisioned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Container App Environment created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ACR created with admin disabled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Verify: az resource list -g fridayreport-rg -o table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89120" y="1371600"/>
            <a:ext cx="3474720" cy="1792224"/>
          </a:xfrm>
          <a:prstGeom prst="rect">
            <a:avLst>
              <a:gd name="adj" fmla="val 3061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89120" y="1371600"/>
            <a:ext cx="347472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498848" y="1463040"/>
            <a:ext cx="3255264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Changes Complete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Storage layer migrated to @azure/storage-blob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Dockerfile tested and builds successfully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Health check endpoint: GET /api/health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Environment variables read from process.env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 hardcoded platform-specific references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All tests pass: npm test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Verify: docker build -t fridayreport . &amp;&amp; docker run -p 5000:5000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1371600"/>
            <a:ext cx="3474720" cy="1591056"/>
          </a:xfrm>
          <a:prstGeom prst="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0" y="1371600"/>
            <a:ext cx="347472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7" name="Text 15"/>
          <p:cNvSpPr/>
          <p:nvPr/>
        </p:nvSpPr>
        <p:spPr>
          <a:xfrm>
            <a:off x="8339328" y="1463040"/>
            <a:ext cx="3255264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Secrets Configured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DATABASE_URL set in Key Vault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SESSION_SECRET generated and stored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GOOGLE_CLIENT_ID + SECRET stored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MICROSOFT_CLIENT_ID + SECRET stored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RESEND_API_KEY stored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Verify: az keyvault secret list --vault-name fridayreport-kv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474720"/>
            <a:ext cx="3474720" cy="1792224"/>
          </a:xfrm>
          <a:prstGeom prst="rect">
            <a:avLst>
              <a:gd name="adj" fmla="val 3061"/>
            </a:avLst>
          </a:prstGeom>
          <a:solidFill>
            <a:srgbClr val="FFFFFF"/>
          </a:solidFill>
          <a:ln w="19050">
            <a:solidFill>
              <a:srgbClr val="075D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474720"/>
            <a:ext cx="3474720" cy="54864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566160"/>
            <a:ext cx="3255264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Networking &amp; DNS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VNet with subnets configured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Private endpoints for PG, KV, Blob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Custom domain CNAME record created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TXT verification record added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TLS certificate provisioned (or pending)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OAuth redirect URIs updated (Google + Microsoft)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Verify: nslookup app.fridayreport.ai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89120" y="3474720"/>
            <a:ext cx="3474720" cy="1792224"/>
          </a:xfrm>
          <a:prstGeom prst="rect">
            <a:avLst>
              <a:gd name="adj" fmla="val 3061"/>
            </a:avLst>
          </a:prstGeom>
          <a:solidFill>
            <a:srgbClr val="FFFFFF"/>
          </a:solidFill>
          <a:ln w="19050">
            <a:solidFill>
              <a:srgbClr val="075DD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89120" y="3474720"/>
            <a:ext cx="3474720" cy="54864"/>
          </a:xfrm>
          <a:prstGeom prst="rect">
            <a:avLst/>
          </a:prstGeom>
          <a:solidFill>
            <a:srgbClr val="075DD1"/>
          </a:solidFill>
          <a:ln/>
        </p:spPr>
      </p:sp>
      <p:sp>
        <p:nvSpPr>
          <p:cNvPr id="23" name="Text 21"/>
          <p:cNvSpPr/>
          <p:nvPr/>
        </p:nvSpPr>
        <p:spPr>
          <a:xfrm>
            <a:off x="4498848" y="3566160"/>
            <a:ext cx="3255264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75DD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Ready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Schema migrations applied successfully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Extensions installed: unaccent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Session table verified: connect_pg_simple_sessions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Initial data seeded (if applicable)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Firewall temp rules removed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Connection test from Container App subnet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Verify: psql $DATABASE_URL -c '\dt'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29600" y="3474720"/>
            <a:ext cx="3474720" cy="1792224"/>
          </a:xfrm>
          <a:prstGeom prst="rect">
            <a:avLst>
              <a:gd name="adj" fmla="val 3061"/>
            </a:avLst>
          </a:prstGeom>
          <a:solidFill>
            <a:srgbClr val="FFFFFF"/>
          </a:solidFill>
          <a:ln w="19050">
            <a:solidFill>
              <a:srgbClr val="FF751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0" y="3474720"/>
            <a:ext cx="3474720" cy="54864"/>
          </a:xfrm>
          <a:prstGeom prst="rect">
            <a:avLst/>
          </a:prstGeom>
          <a:solidFill>
            <a:srgbClr val="FF751F"/>
          </a:solidFill>
          <a:ln/>
        </p:spPr>
      </p:sp>
      <p:sp>
        <p:nvSpPr>
          <p:cNvPr id="26" name="Text 24"/>
          <p:cNvSpPr/>
          <p:nvPr/>
        </p:nvSpPr>
        <p:spPr>
          <a:xfrm>
            <a:off x="8339328" y="3566160"/>
            <a:ext cx="3255264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75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Post-Deploy Smoke Tests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GET https://app.fridayreport.ai — returns 200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GET /api/health — returns healthy status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Login with email/password — session created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Login with Google OAuth — redirect works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Login with Microsoft OAuth — redirect works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File upload — stored in Blob Storage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Verify: curl -I https://app.fridayreport.ai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5486400"/>
            <a:ext cx="11091672" cy="365760"/>
          </a:xfrm>
          <a:prstGeom prst="rect">
            <a:avLst>
              <a:gd name="adj" fmla="val 15000"/>
            </a:avLst>
          </a:prstGeom>
          <a:solidFill>
            <a:srgbClr val="FEF2F2"/>
          </a:solidFill>
          <a:ln w="25400">
            <a:solidFill>
              <a:srgbClr val="E11D4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5532120"/>
            <a:ext cx="10725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1D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 / NO-GO: </a:t>
            </a:r>
            <a:pPr indent="0" marL="0">
              <a:buNone/>
            </a:pPr>
            <a:r>
              <a:rPr lang="en-US" sz="10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checklist items must be verified before shifting production traffic. Schedule a go-live window with stakeholders and have rollback commands ready.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28600"/>
            <a:ext cx="1097280" cy="329184"/>
          </a:xfrm>
          <a:prstGeom prst="rect">
            <a:avLst>
              <a:gd name="adj" fmla="val 16667"/>
            </a:avLst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645920" y="201168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Estimation (Monthly)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11457432" cy="18288"/>
          </a:xfrm>
          <a:prstGeom prst="rect">
            <a:avLst/>
          </a:prstGeom>
          <a:solidFill>
            <a:srgbClr val="0891B2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FridayReport.AI — Azure Deployment Flow  |  Stage 13 of 13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91440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Estimated monthly Azure costs based on typical usage patterns. Prices are approximate and vary by region (East US shown). All prices in USD.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371600"/>
            <a:ext cx="2743200" cy="292608"/>
          </a:xfrm>
          <a:prstGeom prst="rect">
            <a:avLst/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91840" y="1371600"/>
            <a:ext cx="4114800" cy="292608"/>
          </a:xfrm>
          <a:prstGeom prst="rect">
            <a:avLst/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SKU / Tier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06640" y="1371600"/>
            <a:ext cx="1645920" cy="292608"/>
          </a:xfrm>
          <a:prstGeom prst="rect">
            <a:avLst/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 Estimate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052560" y="1371600"/>
            <a:ext cx="1645920" cy="292608"/>
          </a:xfrm>
          <a:prstGeom prst="rect">
            <a:avLst/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Estimate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1664208"/>
            <a:ext cx="2743200" cy="292608"/>
          </a:xfrm>
          <a:prstGeom prst="rect">
            <a:avLst/>
          </a:prstGeom>
          <a:solidFill>
            <a:srgbClr val="F0FDFA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Container App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91840" y="1664208"/>
            <a:ext cx="4114800" cy="292608"/>
          </a:xfrm>
          <a:prstGeom prst="rect">
            <a:avLst/>
          </a:prstGeom>
          <a:solidFill>
            <a:srgbClr val="F0FDFA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vCPU / 2 Gi (dev) — 2 vCPU / 4 Gi x2 (prod)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406640" y="1664208"/>
            <a:ext cx="1645920" cy="292608"/>
          </a:xfrm>
          <a:prstGeom prst="rect">
            <a:avLst/>
          </a:prstGeom>
          <a:solidFill>
            <a:srgbClr val="F0FDFA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$30-50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052560" y="1664208"/>
            <a:ext cx="1645920" cy="292608"/>
          </a:xfrm>
          <a:prstGeom prst="rect">
            <a:avLst/>
          </a:prstGeom>
          <a:solidFill>
            <a:srgbClr val="F0FDFA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$150-300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1956816"/>
            <a:ext cx="274320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Flexible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291840" y="1956816"/>
            <a:ext cx="411480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Standard_B1ms (dev) — Standard_D4ds_v4 (prod)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406640" y="1956816"/>
            <a:ext cx="16459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$15-25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052560" y="1956816"/>
            <a:ext cx="16459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$200-400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2249424"/>
            <a:ext cx="2743200" cy="292608"/>
          </a:xfrm>
          <a:prstGeom prst="rect">
            <a:avLst/>
          </a:prstGeom>
          <a:solidFill>
            <a:srgbClr val="F0FDFA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Blob Storage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291840" y="2249424"/>
            <a:ext cx="4114800" cy="292608"/>
          </a:xfrm>
          <a:prstGeom prst="rect">
            <a:avLst/>
          </a:prstGeom>
          <a:solidFill>
            <a:srgbClr val="F0FDFA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 LRS (dev) — Standard GRS (prod)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406640" y="2249424"/>
            <a:ext cx="1645920" cy="292608"/>
          </a:xfrm>
          <a:prstGeom prst="rect">
            <a:avLst/>
          </a:prstGeom>
          <a:solidFill>
            <a:srgbClr val="F0FDFA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$1-5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052560" y="2249424"/>
            <a:ext cx="1645920" cy="292608"/>
          </a:xfrm>
          <a:prstGeom prst="rect">
            <a:avLst/>
          </a:prstGeom>
          <a:solidFill>
            <a:srgbClr val="F0FDFA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$5-20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48640" y="2542032"/>
            <a:ext cx="274320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Container Registry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291840" y="2542032"/>
            <a:ext cx="411480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Basic (dev) — Standard (prod)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406640" y="2542032"/>
            <a:ext cx="16459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052560" y="2542032"/>
            <a:ext cx="16459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2834640"/>
            <a:ext cx="2743200" cy="292608"/>
          </a:xfrm>
          <a:prstGeom prst="rect">
            <a:avLst/>
          </a:prstGeom>
          <a:solidFill>
            <a:srgbClr val="F0FDFA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Vault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291840" y="2834640"/>
            <a:ext cx="4114800" cy="292608"/>
          </a:xfrm>
          <a:prstGeom prst="rect">
            <a:avLst/>
          </a:prstGeom>
          <a:solidFill>
            <a:srgbClr val="F0FDFA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 tier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406640" y="2834640"/>
            <a:ext cx="1645920" cy="292608"/>
          </a:xfrm>
          <a:prstGeom prst="rect">
            <a:avLst/>
          </a:prstGeom>
          <a:solidFill>
            <a:srgbClr val="F0FDFA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$0-1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052560" y="2834640"/>
            <a:ext cx="1645920" cy="292608"/>
          </a:xfrm>
          <a:prstGeom prst="rect">
            <a:avLst/>
          </a:prstGeom>
          <a:solidFill>
            <a:srgbClr val="F0FDFA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$0-5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48640" y="3127248"/>
            <a:ext cx="274320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Analytics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291840" y="3127248"/>
            <a:ext cx="411480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Pay-per-GB ingestion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406640" y="3127248"/>
            <a:ext cx="16459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$5-10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052560" y="3127248"/>
            <a:ext cx="16459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$20-50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48640" y="3419856"/>
            <a:ext cx="2743200" cy="292608"/>
          </a:xfrm>
          <a:prstGeom prst="rect">
            <a:avLst/>
          </a:prstGeom>
          <a:solidFill>
            <a:srgbClr val="F0FDFA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VNet / Private Endpoints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91840" y="3419856"/>
            <a:ext cx="4114800" cy="292608"/>
          </a:xfrm>
          <a:prstGeom prst="rect">
            <a:avLst/>
          </a:prstGeom>
          <a:solidFill>
            <a:srgbClr val="F0FDFA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private endpoints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406640" y="3419856"/>
            <a:ext cx="1645920" cy="292608"/>
          </a:xfrm>
          <a:prstGeom prst="rect">
            <a:avLst/>
          </a:prstGeom>
          <a:solidFill>
            <a:srgbClr val="F0FDFA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$0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052560" y="3419856"/>
            <a:ext cx="1645920" cy="292608"/>
          </a:xfrm>
          <a:prstGeom prst="rect">
            <a:avLst/>
          </a:prstGeom>
          <a:solidFill>
            <a:srgbClr val="F0FDFA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$22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48640" y="3712464"/>
            <a:ext cx="274320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Domain + TLS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291840" y="3712464"/>
            <a:ext cx="411480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certificate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406640" y="3712464"/>
            <a:ext cx="16459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$0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052560" y="3712464"/>
            <a:ext cx="16459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$0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48640" y="4005072"/>
            <a:ext cx="2743200" cy="292608"/>
          </a:xfrm>
          <a:prstGeom prst="rect">
            <a:avLst/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(estimated)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291840" y="4005072"/>
            <a:ext cx="4114800" cy="292608"/>
          </a:xfrm>
          <a:prstGeom prst="rect">
            <a:avLst/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406640" y="4005072"/>
            <a:ext cx="1645920" cy="292608"/>
          </a:xfrm>
          <a:prstGeom prst="rect">
            <a:avLst/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$56-96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052560" y="4005072"/>
            <a:ext cx="1645920" cy="292608"/>
          </a:xfrm>
          <a:prstGeom prst="rect">
            <a:avLst/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$417-817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48640" y="4572000"/>
            <a:ext cx="3474720" cy="1389888"/>
          </a:xfrm>
          <a:prstGeom prst="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48640" y="4572000"/>
            <a:ext cx="347472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1" name="Text 49"/>
          <p:cNvSpPr/>
          <p:nvPr/>
        </p:nvSpPr>
        <p:spPr>
          <a:xfrm>
            <a:off x="658368" y="4663440"/>
            <a:ext cx="325526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Optimization Tips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 Reserved Instances for PostgreSQL (1-3 yr)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Scale to zero in dev (Container App)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 Basic ACR tier in development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Set log retention to 30 days (default 90)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 Spot instances for non-critical workloads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389120" y="4572000"/>
            <a:ext cx="3474720" cy="1188720"/>
          </a:xfrm>
          <a:prstGeom prst="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FF751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89120" y="4572000"/>
            <a:ext cx="3474720" cy="54864"/>
          </a:xfrm>
          <a:prstGeom prst="rect">
            <a:avLst/>
          </a:prstGeom>
          <a:solidFill>
            <a:srgbClr val="FF751F"/>
          </a:solidFill>
          <a:ln/>
        </p:spPr>
      </p:sp>
      <p:sp>
        <p:nvSpPr>
          <p:cNvPr id="54" name="Text 52"/>
          <p:cNvSpPr/>
          <p:nvPr/>
        </p:nvSpPr>
        <p:spPr>
          <a:xfrm>
            <a:off x="4498848" y="4663440"/>
            <a:ext cx="325526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75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Scaling Cost Factors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Container App: billed per vCPU-second + memory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Auto-scaling to 10 replicas: ~$1,500/mo peak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PostgreSQL: largest cost driver in production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Consider Burstable tier for predictable workloads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8229600" y="4572000"/>
            <a:ext cx="3474720" cy="1389888"/>
          </a:xfrm>
          <a:prstGeom prst="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229600" y="4572000"/>
            <a:ext cx="347472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57" name="Text 55"/>
          <p:cNvSpPr/>
          <p:nvPr/>
        </p:nvSpPr>
        <p:spPr>
          <a:xfrm>
            <a:off x="8339328" y="4663440"/>
            <a:ext cx="3255264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/ Included Services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Managed TLS certificates: Free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Managed Identity: Free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Azure RBAC: Free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Key Vault: First 10k operations free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725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Blob Storage: 5 GB free (first 12 months)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Deployment Flow</dc:title>
  <dc:subject>PptxGenJS Presentation</dc:subject>
  <dc:creator>FridayReport.AI</dc:creator>
  <cp:lastModifiedBy>FridayReport.AI</cp:lastModifiedBy>
  <cp:revision>1</cp:revision>
  <dcterms:created xsi:type="dcterms:W3CDTF">2026-03-18T10:19:32Z</dcterms:created>
  <dcterms:modified xsi:type="dcterms:W3CDTF">2026-03-18T10:19:32Z</dcterms:modified>
</cp:coreProperties>
</file>